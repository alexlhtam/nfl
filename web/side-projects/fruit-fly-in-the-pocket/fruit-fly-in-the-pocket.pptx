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entry in the last Big Data Bowl on this data measured pressure. Nobody measured what the pocket does to bodies, or when a hit stops being avoidable. We did both, and for the second one we borrowed the oldest collision detector in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2023 winners built pocket heat maps and pocket life expectancy. All pressure. The judging brief this time asks for gameplay and player safety. We took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public. The brain map and its cell labels are on GitHub. The NFL data is the 2023 Big Data Bowl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protection is the bulk, 24,495 collisions. The backfield blocks are rare but they are the ones that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tackles carry the volume. The backs carry the intensity, and they are the men with the least weight to absorb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officiating angle. The roughing rule talks about steps. Steps are a distance, and the distance a man can stop in depends on his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fly. Half a second is a number we chose. The fly gives a definition of too late that nobody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brakes matter. Without them the size detectors run away with themselves and the jump neuron fires at the snap. The brain map told us which cells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 here if the room allows. The red line is the moment the fly would have jumped. The dotted line is the sack.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fly is conservative by calibration. That makes its verdict a strict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 365 cell fly brain, set up on a fly's own stimulus and never shown a football outcome, picks out the plays where the quarterback was past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warning signal is a continuous reading, not just a trigger. It is not better than distance, and we say so. It is a different thing, built from how big and how fast things look rather than a tape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three transfer. The third fails for a reason you can state, which is worth more than a fourth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proposals. If asked what we would do next, the answer is the injury records the league holds, which would turn collision energy from an exposure into a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94027"/>
          </a:xfrm>
          <a:prstGeom prst="rect">
            <a:avLst/>
          </a:prstGeom>
          <a:noFill/>
          <a:ln/>
        </p:spPr>
        <p:txBody>
          <a:bodyPr wrap="square" lIns="0" tIns="0" rIns="0" bIns="0" rtlCol="0" anchor="t"/>
          <a:lstStyle>
            <a:lvl1pPr algn="l" indent="0" marL="0">
              <a:lnSpc>
                <a:spcPct val="115000"/>
              </a:lnSpc>
              <a:buNone/>
              <a:defRPr lang="en-US" sz="3200" dirty="0">
                <a:solidFill>
                  <a:srgbClr val="0F1F33"/>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11627"/>
            <a:ext cx="10566400" cy="4033573"/>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894027"/>
          </a:xfrm>
          <a:prstGeom prst="rect">
            <a:avLst/>
          </a:prstGeom>
          <a:noFill/>
          <a:ln/>
        </p:spPr>
        <p:txBody>
          <a:bodyPr wrap="square" lIns="0" tIns="0" rIns="0" bIns="0" rtlCol="0" anchor="t"/>
          <a:lstStyle>
            <a:lvl1pPr algn="l" indent="0" marL="0">
              <a:lnSpc>
                <a:spcPct val="115000"/>
              </a:lnSpc>
              <a:buNone/>
              <a:defRPr lang="en-US" sz="3200" dirty="0">
                <a:solidFill>
                  <a:srgbClr val="0F1F33"/>
                </a:solidFill>
                <a:latin typeface="Oswald" pitchFamily="34" charset="0"/>
                <a:ea typeface="Oswald" pitchFamily="34" charset="-122"/>
                <a:cs typeface="Oswal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11627"/>
            <a:ext cx="10566400" cy="4033573"/>
          </a:xfrm>
          <a:prstGeom prst="rect">
            <a:avLst/>
          </a:prstGeom>
          <a:noFill/>
          <a:ln/>
        </p:spPr>
        <p:txBody>
          <a:bodyPr wrap="square" lIns="0" tIns="0" rIns="0" bIns="0" rtlCol="0" anchor="t"/>
          <a:lstStyle>
            <a:lvl1pPr algn="l" indent="0" marL="0">
              <a:lnSpc>
                <a:spcPct val="140000"/>
              </a:lnSpc>
              <a:buNone/>
              <a:defRPr lang="en-US" sz="1600" dirty="0">
                <a:solidFill>
                  <a:srgbClr val="4A5568"/>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gif"/><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3"/>
        </a:solidFill>
      </p:bgPr>
    </p:bg>
    <p:spTree>
      <p:nvGrpSpPr>
        <p:cNvPr id="1" name=""/>
        <p:cNvGrpSpPr/>
        <p:nvPr/>
      </p:nvGrpSpPr>
      <p:grpSpPr>
        <a:xfrm>
          <a:off x="0" y="0"/>
          <a:ext cx="0" cy="0"/>
          <a:chOff x="0" y="0"/>
          <a:chExt cx="0" cy="0"/>
        </a:xfrm>
      </p:grpSpPr>
      <p:sp>
        <p:nvSpPr>
          <p:cNvPr id="2" name="Text 0"/>
          <p:cNvSpPr/>
          <p:nvPr/>
        </p:nvSpPr>
        <p:spPr>
          <a:xfrm>
            <a:off x="812800" y="1868818"/>
            <a:ext cx="5598668"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EB6834"/>
                </a:solidFill>
                <a:latin typeface="Public Sans" pitchFamily="34" charset="0"/>
                <a:ea typeface="Public Sans" pitchFamily="34" charset="-122"/>
                <a:cs typeface="Public Sans" pitchFamily="34" charset="-120"/>
              </a:rPr>
              <a:t>NFL X AWS HACKATHON, UCL, 9 OCTOBER 2026</a:t>
            </a:r>
            <a:endParaRPr lang="en-US" sz="1500" dirty="0"/>
          </a:p>
        </p:txBody>
      </p:sp>
      <p:sp>
        <p:nvSpPr>
          <p:cNvPr id="3" name="Text 1"/>
          <p:cNvSpPr/>
          <p:nvPr>
            <p:ph type="title"/>
          </p:nvPr>
        </p:nvSpPr>
        <p:spPr>
          <a:xfrm>
            <a:off x="812800" y="2364118"/>
            <a:ext cx="5598668" cy="1579827"/>
          </a:xfrm>
          <a:prstGeom prst="rect">
            <a:avLst/>
          </a:prstGeom>
          <a:noFill/>
          <a:ln/>
        </p:spPr>
        <p:txBody>
          <a:bodyPr wrap="square" lIns="0" tIns="0" rIns="0" bIns="0" rtlCol="0" anchor="t">
            <a:normAutofit/>
          </a:bodyPr>
          <a:lstStyle/>
          <a:p>
            <a:pPr algn="l" indent="0" marL="0">
              <a:lnSpc>
                <a:spcPts val="6120"/>
              </a:lnSpc>
              <a:buNone/>
            </a:pPr>
            <a:r>
              <a:rPr lang="en-US" sz="6000" b="1" i="0" dirty="0">
                <a:solidFill>
                  <a:srgbClr val="F7F6F1"/>
                </a:solidFill>
                <a:latin typeface="Oswald" pitchFamily="34" charset="0"/>
                <a:ea typeface="Oswald" pitchFamily="34" charset="-122"/>
                <a:cs typeface="Oswald" pitchFamily="34" charset="-120"/>
              </a:rPr>
              <a:t>Fruit fly in the pocket</a:t>
            </a:r>
            <a:endParaRPr lang="en-US" sz="6000" dirty="0"/>
          </a:p>
        </p:txBody>
      </p:sp>
      <p:sp>
        <p:nvSpPr>
          <p:cNvPr id="4" name="Text 2"/>
          <p:cNvSpPr/>
          <p:nvPr/>
        </p:nvSpPr>
        <p:spPr>
          <a:xfrm>
            <a:off x="812800" y="4147145"/>
            <a:ext cx="5598668" cy="86737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DFE6EE"/>
                </a:solidFill>
                <a:latin typeface="Public Sans" pitchFamily="34" charset="0"/>
                <a:ea typeface="Public Sans" pitchFamily="34" charset="-122"/>
                <a:cs typeface="Public Sans" pitchFamily="34" charset="-120"/>
              </a:rPr>
              <a:t>We copied the part of a real fruit fly's brain that makes it jump out of the way, and let it watch 8,377 NFL dropbacks through the quarterback's eyes.</a:t>
            </a:r>
            <a:endParaRPr lang="en-US" sz="1700" dirty="0"/>
          </a:p>
        </p:txBody>
      </p:sp>
      <p:pic>
        <p:nvPicPr>
          <p:cNvPr id="5" name="Image 0" descr="A cartoon fruit fly in a navy football helmet with an orange stripe, standing in the throwing stance and throwing a football.">    </p:cNvPr>
          <p:cNvPicPr>
            <a:picLocks noChangeAspect="1"/>
          </p:cNvPicPr>
          <p:nvPr/>
        </p:nvPicPr>
        <p:blipFill>
          <a:blip r:embed="rId1"/>
          <a:srcRect l="0" r="0" t="0" b="0"/>
          <a:stretch/>
        </p:blipFill>
        <p:spPr>
          <a:xfrm>
            <a:off x="6553200" y="1619250"/>
            <a:ext cx="4826000" cy="3619500"/>
          </a:xfrm>
          <a:prstGeom prst="roundRect">
            <a:avLst>
              <a:gd name="adj" fmla="val 2807"/>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Two questions nobody has asked of this data</a:t>
            </a:r>
            <a:endParaRPr lang="en-US" sz="3200" dirty="0"/>
          </a:p>
        </p:txBody>
      </p:sp>
      <p:sp>
        <p:nvSpPr>
          <p:cNvPr id="3" name="Text 1"/>
          <p:cNvSpPr/>
          <p:nvPr/>
        </p:nvSpPr>
        <p:spPr>
          <a:xfrm>
            <a:off x="812800" y="1564614"/>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Every finalist in the 2023 Big Data Bowl used this same data to measure pressure on the quarterback. None asked what the collisions in the pocket do to the people in it, or at what moment a hit on the passer stops being avoidable.</a:t>
            </a:r>
            <a:endParaRPr lang="en-US" sz="1500" dirty="0"/>
          </a:p>
        </p:txBody>
      </p:sp>
      <p:sp>
        <p:nvSpPr>
          <p:cNvPr id="4" name="Shape 2"/>
          <p:cNvSpPr/>
          <p:nvPr/>
        </p:nvSpPr>
        <p:spPr>
          <a:xfrm>
            <a:off x="815975" y="2405989"/>
            <a:ext cx="5149850" cy="3432837"/>
          </a:xfrm>
          <a:prstGeom prst="roundRect">
            <a:avLst>
              <a:gd name="adj" fmla="val 2867"/>
            </a:avLst>
          </a:prstGeom>
          <a:solidFill>
            <a:srgbClr val="FFFFFF"/>
          </a:solidFill>
          <a:ln w="6350">
            <a:solidFill>
              <a:srgbClr val="DCDAD2"/>
            </a:solidFill>
            <a:prstDash val="solid"/>
          </a:ln>
        </p:spPr>
      </p:sp>
      <p:sp>
        <p:nvSpPr>
          <p:cNvPr id="5" name="Text 3"/>
          <p:cNvSpPr/>
          <p:nvPr/>
        </p:nvSpPr>
        <p:spPr>
          <a:xfrm>
            <a:off x="1121833" y="2711847"/>
            <a:ext cx="46742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6834"/>
                </a:solidFill>
                <a:latin typeface="Public Sans" pitchFamily="34" charset="0"/>
                <a:ea typeface="Public Sans" pitchFamily="34" charset="-122"/>
                <a:cs typeface="Public Sans" pitchFamily="34" charset="-120"/>
              </a:rPr>
              <a:t>QUESTION ONE</a:t>
            </a:r>
            <a:endParaRPr lang="en-US" sz="1200" dirty="0"/>
          </a:p>
        </p:txBody>
      </p:sp>
      <p:sp>
        <p:nvSpPr>
          <p:cNvPr id="6" name="Text 4"/>
          <p:cNvSpPr/>
          <p:nvPr/>
        </p:nvSpPr>
        <p:spPr>
          <a:xfrm>
            <a:off x="1121833" y="3052167"/>
            <a:ext cx="4674277" cy="9398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F33"/>
                </a:solidFill>
                <a:latin typeface="Public Sans" pitchFamily="34" charset="0"/>
                <a:ea typeface="Public Sans" pitchFamily="34" charset="-122"/>
                <a:cs typeface="Public Sans" pitchFamily="34" charset="-120"/>
              </a:rPr>
              <a:t>How hard are the collisions in the pocket, and who takes the worst of them?</a:t>
            </a:r>
            <a:endParaRPr lang="en-US" sz="2000" dirty="0"/>
          </a:p>
        </p:txBody>
      </p:sp>
      <p:sp>
        <p:nvSpPr>
          <p:cNvPr id="7" name="Text 5"/>
          <p:cNvSpPr/>
          <p:nvPr/>
        </p:nvSpPr>
        <p:spPr>
          <a:xfrm>
            <a:off x="1121833" y="4093567"/>
            <a:ext cx="4674277"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The players who block and rush take more head knocks than anyone else on the field, which is why the NFL put padded helmet covers on them first. The tracking data lets us put a number on every collision.</a:t>
            </a:r>
            <a:endParaRPr lang="en-US" sz="1500" dirty="0"/>
          </a:p>
        </p:txBody>
      </p:sp>
      <p:sp>
        <p:nvSpPr>
          <p:cNvPr id="8" name="Shape 6"/>
          <p:cNvSpPr/>
          <p:nvPr/>
        </p:nvSpPr>
        <p:spPr>
          <a:xfrm>
            <a:off x="6226175" y="2405989"/>
            <a:ext cx="5149850" cy="3432837"/>
          </a:xfrm>
          <a:prstGeom prst="roundRect">
            <a:avLst>
              <a:gd name="adj" fmla="val 2867"/>
            </a:avLst>
          </a:prstGeom>
          <a:solidFill>
            <a:srgbClr val="FFFFFF"/>
          </a:solidFill>
          <a:ln w="6350">
            <a:solidFill>
              <a:srgbClr val="DCDAD2"/>
            </a:solidFill>
            <a:prstDash val="solid"/>
          </a:ln>
        </p:spPr>
      </p:sp>
      <p:sp>
        <p:nvSpPr>
          <p:cNvPr id="9" name="Text 7"/>
          <p:cNvSpPr/>
          <p:nvPr/>
        </p:nvSpPr>
        <p:spPr>
          <a:xfrm>
            <a:off x="6532034" y="2711847"/>
            <a:ext cx="467427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Public Sans" pitchFamily="34" charset="0"/>
                <a:ea typeface="Public Sans" pitchFamily="34" charset="-122"/>
                <a:cs typeface="Public Sans" pitchFamily="34" charset="-120"/>
              </a:rPr>
              <a:t>QUESTION TWO</a:t>
            </a:r>
            <a:endParaRPr lang="en-US" sz="1200" dirty="0"/>
          </a:p>
        </p:txBody>
      </p:sp>
      <p:sp>
        <p:nvSpPr>
          <p:cNvPr id="10" name="Text 8"/>
          <p:cNvSpPr/>
          <p:nvPr/>
        </p:nvSpPr>
        <p:spPr>
          <a:xfrm>
            <a:off x="6532034" y="3052167"/>
            <a:ext cx="4674277" cy="9398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F33"/>
                </a:solidFill>
                <a:latin typeface="Public Sans" pitchFamily="34" charset="0"/>
                <a:ea typeface="Public Sans" pitchFamily="34" charset="-122"/>
                <a:cs typeface="Public Sans" pitchFamily="34" charset="-120"/>
              </a:rPr>
              <a:t>When the ball leaves the quarterback's hand, could the hit still have been avoided?</a:t>
            </a:r>
            <a:endParaRPr lang="en-US" sz="2000" dirty="0"/>
          </a:p>
        </p:txBody>
      </p:sp>
      <p:sp>
        <p:nvSpPr>
          <p:cNvPr id="11" name="Text 9"/>
          <p:cNvSpPr/>
          <p:nvPr/>
        </p:nvSpPr>
        <p:spPr>
          <a:xfrm>
            <a:off x="6532034" y="4093567"/>
            <a:ext cx="467427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For the rusher, that is a question of braking distance. For the quarterback, it is whether he could see it coming, and for that we asked a fruit fly.</a:t>
            </a:r>
            <a:endParaRPr lang="en-US" sz="1500" dirty="0"/>
          </a:p>
        </p:txBody>
      </p:sp>
      <p:sp>
        <p:nvSpPr>
          <p:cNvPr id="12" name="Text 10"/>
          <p:cNvSpPr/>
          <p:nvPr/>
        </p:nvSpPr>
        <p:spPr>
          <a:xfrm>
            <a:off x="812800" y="6238280"/>
            <a:ext cx="10580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2021 season, weeks 1 to 8. Player tracking from the NFL with scouting labels from PFF. Fly brain wiring from the FlyWire map.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Two sets of data, one from the NFL and one from a fly</a:t>
            </a:r>
            <a:endParaRPr lang="en-US" sz="3200" dirty="0"/>
          </a:p>
        </p:txBody>
      </p:sp>
      <p:sp>
        <p:nvSpPr>
          <p:cNvPr id="3" name="Text 1"/>
          <p:cNvSpPr/>
          <p:nvPr/>
        </p:nvSpPr>
        <p:spPr>
          <a:xfrm>
            <a:off x="812800" y="1564615"/>
            <a:ext cx="53108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B6834"/>
                </a:solidFill>
                <a:latin typeface="Public Sans" pitchFamily="34" charset="0"/>
                <a:ea typeface="Public Sans" pitchFamily="34" charset="-122"/>
                <a:cs typeface="Public Sans" pitchFamily="34" charset="-120"/>
              </a:rPr>
              <a:t>The pocket</a:t>
            </a:r>
            <a:endParaRPr lang="en-US" sz="2000" dirty="0"/>
          </a:p>
        </p:txBody>
      </p:sp>
      <p:sp>
        <p:nvSpPr>
          <p:cNvPr id="4" name="Shape 2"/>
          <p:cNvSpPr/>
          <p:nvPr/>
        </p:nvSpPr>
        <p:spPr>
          <a:xfrm>
            <a:off x="815975" y="2050390"/>
            <a:ext cx="2495550" cy="1292357"/>
          </a:xfrm>
          <a:prstGeom prst="roundRect">
            <a:avLst>
              <a:gd name="adj" fmla="val 7616"/>
            </a:avLst>
          </a:prstGeom>
          <a:solidFill>
            <a:srgbClr val="FFFFFF"/>
          </a:solidFill>
          <a:ln w="6350">
            <a:solidFill>
              <a:srgbClr val="DCDAD2"/>
            </a:solidFill>
            <a:prstDash val="solid"/>
          </a:ln>
        </p:spPr>
      </p:sp>
      <p:sp>
        <p:nvSpPr>
          <p:cNvPr id="5" name="Text 3"/>
          <p:cNvSpPr/>
          <p:nvPr/>
        </p:nvSpPr>
        <p:spPr>
          <a:xfrm>
            <a:off x="1020233" y="2254647"/>
            <a:ext cx="2149644"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8,557</a:t>
            </a:r>
            <a:endParaRPr lang="en-US" sz="3600" dirty="0"/>
          </a:p>
        </p:txBody>
      </p:sp>
      <p:sp>
        <p:nvSpPr>
          <p:cNvPr id="6" name="Text 4"/>
          <p:cNvSpPr/>
          <p:nvPr/>
        </p:nvSpPr>
        <p:spPr>
          <a:xfrm>
            <a:off x="1020233" y="2711847"/>
            <a:ext cx="21496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pass plays from 122 games</a:t>
            </a:r>
            <a:endParaRPr lang="en-US" sz="1200" dirty="0"/>
          </a:p>
        </p:txBody>
      </p:sp>
      <p:sp>
        <p:nvSpPr>
          <p:cNvPr id="7" name="Shape 5"/>
          <p:cNvSpPr/>
          <p:nvPr/>
        </p:nvSpPr>
        <p:spPr>
          <a:xfrm>
            <a:off x="3470275" y="2050390"/>
            <a:ext cx="2495550" cy="1292357"/>
          </a:xfrm>
          <a:prstGeom prst="roundRect">
            <a:avLst>
              <a:gd name="adj" fmla="val 7616"/>
            </a:avLst>
          </a:prstGeom>
          <a:solidFill>
            <a:srgbClr val="FFFFFF"/>
          </a:solidFill>
          <a:ln w="6350">
            <a:solidFill>
              <a:srgbClr val="DCDAD2"/>
            </a:solidFill>
            <a:prstDash val="solid"/>
          </a:ln>
        </p:spPr>
      </p:sp>
      <p:sp>
        <p:nvSpPr>
          <p:cNvPr id="8" name="Text 6"/>
          <p:cNvSpPr/>
          <p:nvPr/>
        </p:nvSpPr>
        <p:spPr>
          <a:xfrm>
            <a:off x="3674533" y="2254647"/>
            <a:ext cx="2288117"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10 a second</a:t>
            </a:r>
            <a:endParaRPr lang="en-US" sz="3600" dirty="0"/>
          </a:p>
        </p:txBody>
      </p:sp>
      <p:sp>
        <p:nvSpPr>
          <p:cNvPr id="9" name="Text 7"/>
          <p:cNvSpPr/>
          <p:nvPr/>
        </p:nvSpPr>
        <p:spPr>
          <a:xfrm>
            <a:off x="3674533" y="2711847"/>
            <a:ext cx="21496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positions of all 22 players and the ball</a:t>
            </a:r>
            <a:endParaRPr lang="en-US" sz="1200" dirty="0"/>
          </a:p>
        </p:txBody>
      </p:sp>
      <p:sp>
        <p:nvSpPr>
          <p:cNvPr id="10" name="Text 8"/>
          <p:cNvSpPr/>
          <p:nvPr/>
        </p:nvSpPr>
        <p:spPr>
          <a:xfrm>
            <a:off x="812800" y="3523721"/>
            <a:ext cx="5310886"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Every player's position, speed and the way he is facing, ten times a second, from just before the snap to just after the throw. Scouts have also marked who blocked whom, what kind of block it was, and which rusher got to the quarterback.</a:t>
            </a:r>
            <a:endParaRPr lang="en-US" sz="1500" dirty="0"/>
          </a:p>
        </p:txBody>
      </p:sp>
      <p:sp>
        <p:nvSpPr>
          <p:cNvPr id="11" name="Text 9"/>
          <p:cNvSpPr/>
          <p:nvPr/>
        </p:nvSpPr>
        <p:spPr>
          <a:xfrm>
            <a:off x="6223000" y="1564615"/>
            <a:ext cx="53108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A78D6"/>
                </a:solidFill>
                <a:latin typeface="Public Sans" pitchFamily="34" charset="0"/>
                <a:ea typeface="Public Sans" pitchFamily="34" charset="-122"/>
                <a:cs typeface="Public Sans" pitchFamily="34" charset="-120"/>
              </a:rPr>
              <a:t>The fly brain</a:t>
            </a:r>
            <a:endParaRPr lang="en-US" sz="2000" dirty="0"/>
          </a:p>
        </p:txBody>
      </p:sp>
      <p:sp>
        <p:nvSpPr>
          <p:cNvPr id="12" name="Shape 10"/>
          <p:cNvSpPr/>
          <p:nvPr/>
        </p:nvSpPr>
        <p:spPr>
          <a:xfrm>
            <a:off x="6226175" y="2050390"/>
            <a:ext cx="2495550" cy="1292357"/>
          </a:xfrm>
          <a:prstGeom prst="roundRect">
            <a:avLst>
              <a:gd name="adj" fmla="val 7616"/>
            </a:avLst>
          </a:prstGeom>
          <a:solidFill>
            <a:srgbClr val="FFFFFF"/>
          </a:solidFill>
          <a:ln w="6350">
            <a:solidFill>
              <a:srgbClr val="DCDAD2"/>
            </a:solidFill>
            <a:prstDash val="solid"/>
          </a:ln>
        </p:spPr>
      </p:sp>
      <p:sp>
        <p:nvSpPr>
          <p:cNvPr id="13" name="Text 11"/>
          <p:cNvSpPr/>
          <p:nvPr/>
        </p:nvSpPr>
        <p:spPr>
          <a:xfrm>
            <a:off x="6430433" y="2254647"/>
            <a:ext cx="2149644"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139,255</a:t>
            </a:r>
            <a:endParaRPr lang="en-US" sz="3600" dirty="0"/>
          </a:p>
        </p:txBody>
      </p:sp>
      <p:sp>
        <p:nvSpPr>
          <p:cNvPr id="14" name="Text 12"/>
          <p:cNvSpPr/>
          <p:nvPr/>
        </p:nvSpPr>
        <p:spPr>
          <a:xfrm>
            <a:off x="6430433" y="2711847"/>
            <a:ext cx="21496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nerve cells in a complete map of one fly's brain</a:t>
            </a:r>
            <a:endParaRPr lang="en-US" sz="1200" dirty="0"/>
          </a:p>
        </p:txBody>
      </p:sp>
      <p:sp>
        <p:nvSpPr>
          <p:cNvPr id="15" name="Shape 13"/>
          <p:cNvSpPr/>
          <p:nvPr/>
        </p:nvSpPr>
        <p:spPr>
          <a:xfrm>
            <a:off x="8880475" y="2050390"/>
            <a:ext cx="2495550" cy="1292357"/>
          </a:xfrm>
          <a:prstGeom prst="roundRect">
            <a:avLst>
              <a:gd name="adj" fmla="val 7616"/>
            </a:avLst>
          </a:prstGeom>
          <a:solidFill>
            <a:srgbClr val="FFFFFF"/>
          </a:solidFill>
          <a:ln w="6350">
            <a:solidFill>
              <a:srgbClr val="DCDAD2"/>
            </a:solidFill>
            <a:prstDash val="solid"/>
          </a:ln>
        </p:spPr>
      </p:sp>
      <p:sp>
        <p:nvSpPr>
          <p:cNvPr id="16" name="Text 14"/>
          <p:cNvSpPr/>
          <p:nvPr/>
        </p:nvSpPr>
        <p:spPr>
          <a:xfrm>
            <a:off x="9084734" y="2254647"/>
            <a:ext cx="2149644"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365</a:t>
            </a:r>
            <a:endParaRPr lang="en-US" sz="3600" dirty="0"/>
          </a:p>
        </p:txBody>
      </p:sp>
      <p:sp>
        <p:nvSpPr>
          <p:cNvPr id="17" name="Text 15"/>
          <p:cNvSpPr/>
          <p:nvPr/>
        </p:nvSpPr>
        <p:spPr>
          <a:xfrm>
            <a:off x="9084734" y="2711847"/>
            <a:ext cx="21496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of them make up the circuit that makes a fly jump</a:t>
            </a:r>
            <a:endParaRPr lang="en-US" sz="1200" dirty="0"/>
          </a:p>
        </p:txBody>
      </p:sp>
      <p:sp>
        <p:nvSpPr>
          <p:cNvPr id="18" name="Text 16"/>
          <p:cNvSpPr/>
          <p:nvPr/>
        </p:nvSpPr>
        <p:spPr>
          <a:xfrm>
            <a:off x="6223000" y="3523721"/>
            <a:ext cx="5310886"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In 2024 scientists finished mapping every cell in a fruit fly's brain and every one of the 50 million connections between them. We took the part that spots something about to hit the fly, with all 13,514 of its connections, and ran it as a working brain.</a:t>
            </a:r>
            <a:endParaRPr lang="en-US" sz="1500" dirty="0"/>
          </a:p>
        </p:txBody>
      </p:sp>
      <p:sp>
        <p:nvSpPr>
          <p:cNvPr id="19" name="Text 17"/>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Fly brain map published in Nature in 2024 by the FlyWire consortium. Working brain model from Shiu and colleagues, also 2024. Both are public.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Blocks that start in the backfield hit three times as hard as a normal pass block</a:t>
            </a:r>
            <a:endParaRPr lang="en-US" sz="3200" dirty="0"/>
          </a:p>
        </p:txBody>
      </p:sp>
      <p:sp>
        <p:nvSpPr>
          <p:cNvPr id="3" name="Shape 1"/>
          <p:cNvSpPr/>
          <p:nvPr/>
        </p:nvSpPr>
        <p:spPr>
          <a:xfrm>
            <a:off x="812800" y="1913865"/>
            <a:ext cx="6477000" cy="3975100"/>
          </a:xfrm>
          <a:prstGeom prst="roundRect">
            <a:avLst>
              <a:gd name="adj" fmla="val 1917"/>
            </a:avLst>
          </a:prstGeom>
          <a:solidFill>
            <a:srgbClr val="FCFCFB"/>
          </a:solidFill>
          <a:ln/>
        </p:spPr>
      </p:sp>
      <p:pic>
        <p:nvPicPr>
          <p:cNvPr id="4" name="Image 0" descr="Collision energy by block type. Backfield pickup 315 joules, chip 272, pull 231, backfield help 218, second level 106, pass protection 100, switch 86, play action 67, post 58.">    </p:cNvPr>
          <p:cNvPicPr>
            <a:picLocks noChangeAspect="1"/>
          </p:cNvPicPr>
          <p:nvPr/>
        </p:nvPicPr>
        <p:blipFill>
          <a:blip r:embed="rId1"/>
          <a:srcRect l="0" r="0" t="-32" b="-32"/>
          <a:stretch/>
        </p:blipFill>
        <p:spPr>
          <a:xfrm>
            <a:off x="812800" y="1913865"/>
            <a:ext cx="6477000" cy="3975100"/>
          </a:xfrm>
          <a:prstGeom prst="roundRect">
            <a:avLst>
              <a:gd name="adj" fmla="val 1917"/>
            </a:avLst>
          </a:prstGeom>
        </p:spPr>
      </p:pic>
      <p:sp>
        <p:nvSpPr>
          <p:cNvPr id="5" name="Text 2"/>
          <p:cNvSpPr/>
          <p:nvPr/>
        </p:nvSpPr>
        <p:spPr>
          <a:xfrm>
            <a:off x="7594600" y="1856715"/>
            <a:ext cx="3898138"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We measure every collision at the moment the blocker and the rusher he is assigned to come within 1.5 yards, from how fast they are closing on each other and how much each of them weighs.</a:t>
            </a:r>
            <a:endParaRPr lang="en-US" sz="1500" dirty="0"/>
          </a:p>
        </p:txBody>
      </p:sp>
      <p:sp>
        <p:nvSpPr>
          <p:cNvPr id="6" name="Text 3"/>
          <p:cNvSpPr/>
          <p:nvPr/>
        </p:nvSpPr>
        <p:spPr>
          <a:xfrm>
            <a:off x="7594600" y="3368015"/>
            <a:ext cx="3898138"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A normal pass block closes at 1.9 yards per second and carries 100 joules. A running back stepping up to stop a blitzer closes at 3.9 yards per second and carries 315 joules.</a:t>
            </a:r>
            <a:endParaRPr lang="en-US" sz="1500" dirty="0"/>
          </a:p>
        </p:txBody>
      </p:sp>
      <p:sp>
        <p:nvSpPr>
          <p:cNvPr id="7" name="Text 4"/>
          <p:cNvSpPr/>
          <p:nvPr/>
        </p:nvSpPr>
        <p:spPr>
          <a:xfrm>
            <a:off x="7594600" y="4879315"/>
            <a:ext cx="389813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Head injury risk climbs much faster than the speed of the collision, so the top of this chart matters far more than its place on it suggests.</a:t>
            </a:r>
            <a:endParaRPr lang="en-US" sz="1500" dirty="0"/>
          </a:p>
        </p:txBody>
      </p:sp>
      <p:sp>
        <p:nvSpPr>
          <p:cNvPr id="8" name="Text 5"/>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43,720 collisions. Energy in joules, the same unit used in helmet testing. Play action blocks are the gentlest because the rusher pauses to read a run first.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The lightest blockers take the hardest collisions</a:t>
            </a:r>
            <a:endParaRPr lang="en-US" sz="3200" dirty="0"/>
          </a:p>
        </p:txBody>
      </p:sp>
      <p:sp>
        <p:nvSpPr>
          <p:cNvPr id="3" name="Shape 1"/>
          <p:cNvSpPr/>
          <p:nvPr/>
        </p:nvSpPr>
        <p:spPr>
          <a:xfrm>
            <a:off x="812800" y="2039609"/>
            <a:ext cx="6477000" cy="3276600"/>
          </a:xfrm>
          <a:prstGeom prst="roundRect">
            <a:avLst>
              <a:gd name="adj" fmla="val 2326"/>
            </a:avLst>
          </a:prstGeom>
          <a:solidFill>
            <a:srgbClr val="FCFCFB"/>
          </a:solidFill>
          <a:ln/>
        </p:spPr>
      </p:sp>
      <p:pic>
        <p:nvPicPr>
          <p:cNvPr id="4" name="Image 0" descr="Collision energy by blocker position. Running back 283 joules at a typical weight of 215 pounds, fullback 196, tackle 115 at 315 pounds, tight end 95, guard 77, centre 44.">    </p:cNvPr>
          <p:cNvPicPr>
            <a:picLocks noChangeAspect="1"/>
          </p:cNvPicPr>
          <p:nvPr/>
        </p:nvPicPr>
        <p:blipFill>
          <a:blip r:embed="rId1"/>
          <a:srcRect l="-78" r="-78" t="0" b="0"/>
          <a:stretch/>
        </p:blipFill>
        <p:spPr>
          <a:xfrm>
            <a:off x="812800" y="2039609"/>
            <a:ext cx="6477000" cy="3276600"/>
          </a:xfrm>
          <a:prstGeom prst="roundRect">
            <a:avLst>
              <a:gd name="adj" fmla="val 2326"/>
            </a:avLst>
          </a:prstGeom>
        </p:spPr>
      </p:pic>
      <p:sp>
        <p:nvSpPr>
          <p:cNvPr id="5" name="Shape 2"/>
          <p:cNvSpPr/>
          <p:nvPr/>
        </p:nvSpPr>
        <p:spPr>
          <a:xfrm>
            <a:off x="7597775" y="2218531"/>
            <a:ext cx="3778250" cy="1277144"/>
          </a:xfrm>
          <a:prstGeom prst="roundRect">
            <a:avLst>
              <a:gd name="adj" fmla="val 7707"/>
            </a:avLst>
          </a:prstGeom>
          <a:solidFill>
            <a:srgbClr val="FFFFFF"/>
          </a:solidFill>
          <a:ln w="6350">
            <a:solidFill>
              <a:srgbClr val="DCDAD2"/>
            </a:solidFill>
            <a:prstDash val="solid"/>
          </a:ln>
        </p:spPr>
      </p:sp>
      <p:sp>
        <p:nvSpPr>
          <p:cNvPr id="6" name="Text 3"/>
          <p:cNvSpPr/>
          <p:nvPr/>
        </p:nvSpPr>
        <p:spPr>
          <a:xfrm>
            <a:off x="7802034" y="2422792"/>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EB6834"/>
                </a:solidFill>
                <a:latin typeface="Oswald" pitchFamily="34" charset="0"/>
                <a:ea typeface="Oswald" pitchFamily="34" charset="-122"/>
                <a:cs typeface="Oswald" pitchFamily="34" charset="-120"/>
              </a:rPr>
              <a:t>2.8% to 19%</a:t>
            </a:r>
            <a:endParaRPr lang="en-US" sz="3600" dirty="0"/>
          </a:p>
        </p:txBody>
      </p:sp>
      <p:sp>
        <p:nvSpPr>
          <p:cNvPr id="7" name="Text 4"/>
          <p:cNvSpPr/>
          <p:nvPr/>
        </p:nvSpPr>
        <p:spPr>
          <a:xfrm>
            <a:off x="7802034" y="2879992"/>
            <a:ext cx="3470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Running backs are in 2.8 percent of all collisions and 19 percent of the hardest tenth</a:t>
            </a:r>
            <a:endParaRPr lang="en-US" sz="1200" dirty="0"/>
          </a:p>
        </p:txBody>
      </p:sp>
      <p:sp>
        <p:nvSpPr>
          <p:cNvPr id="8" name="Shape 5"/>
          <p:cNvSpPr/>
          <p:nvPr/>
        </p:nvSpPr>
        <p:spPr>
          <a:xfrm>
            <a:off x="7597775" y="3654425"/>
            <a:ext cx="3778250" cy="1482857"/>
          </a:xfrm>
          <a:prstGeom prst="roundRect">
            <a:avLst>
              <a:gd name="adj" fmla="val 6638"/>
            </a:avLst>
          </a:prstGeom>
          <a:solidFill>
            <a:srgbClr val="FFFFFF"/>
          </a:solidFill>
          <a:ln w="6350">
            <a:solidFill>
              <a:srgbClr val="DCDAD2"/>
            </a:solidFill>
            <a:prstDash val="solid"/>
          </a:ln>
        </p:spPr>
      </p:sp>
      <p:sp>
        <p:nvSpPr>
          <p:cNvPr id="9" name="Text 6"/>
          <p:cNvSpPr/>
          <p:nvPr/>
        </p:nvSpPr>
        <p:spPr>
          <a:xfrm>
            <a:off x="7802034" y="3858685"/>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3.6 kJ</a:t>
            </a:r>
            <a:endParaRPr lang="en-US" sz="3600" dirty="0"/>
          </a:p>
        </p:txBody>
      </p:sp>
      <p:sp>
        <p:nvSpPr>
          <p:cNvPr id="10" name="Text 7"/>
          <p:cNvSpPr/>
          <p:nvPr/>
        </p:nvSpPr>
        <p:spPr>
          <a:xfrm>
            <a:off x="7802034" y="4315885"/>
            <a:ext cx="3470825"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What a tackle absorbs in a typical game, from 30 collisions. Penei Sewell led the eight weeks with 321 collisions and 45.8 kJ</a:t>
            </a:r>
            <a:endParaRPr lang="en-US" sz="1200" dirty="0"/>
          </a:p>
        </p:txBody>
      </p:sp>
      <p:sp>
        <p:nvSpPr>
          <p:cNvPr id="11" name="Text 8"/>
          <p:cNvSpPr/>
          <p:nvPr/>
        </p:nvSpPr>
        <p:spPr>
          <a:xfrm>
            <a:off x="812800" y="6024959"/>
            <a:ext cx="1172057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A back meets the rusher after a five to seven yard run up. In university football, hits after a run up of 10 yards or more shake the head harder (Lacelle and colleagues, 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Half of all hits on the passer could not be stopped once the ball had left</a:t>
            </a:r>
            <a:endParaRPr lang="en-US" sz="3200" dirty="0"/>
          </a:p>
        </p:txBody>
      </p:sp>
      <p:sp>
        <p:nvSpPr>
          <p:cNvPr id="3" name="Shape 1"/>
          <p:cNvSpPr/>
          <p:nvPr/>
        </p:nvSpPr>
        <p:spPr>
          <a:xfrm>
            <a:off x="812800" y="1869415"/>
            <a:ext cx="6096000" cy="4064000"/>
          </a:xfrm>
          <a:prstGeom prst="roundRect">
            <a:avLst>
              <a:gd name="adj" fmla="val 1875"/>
            </a:avLst>
          </a:prstGeom>
          <a:solidFill>
            <a:srgbClr val="FCFCFB"/>
          </a:solidFill>
          <a:ln/>
        </p:spPr>
      </p:sp>
      <p:pic>
        <p:nvPicPr>
          <p:cNvPr id="4" name="Image 0" descr="Each dot is a hit on the passer, placed by the rusher's speed and his distance from the quarterback when the ball left. A curve shows how far a rusher needs to stop. 51 percent of hits sit below it. Hits that drew a roughing the passer flag are ringed in red.">    </p:cNvPr>
          <p:cNvPicPr>
            <a:picLocks noChangeAspect="1"/>
          </p:cNvPicPr>
          <p:nvPr/>
        </p:nvPicPr>
        <p:blipFill>
          <a:blip r:embed="rId1"/>
          <a:srcRect l="0" r="0" t="0" b="0"/>
          <a:stretch/>
        </p:blipFill>
        <p:spPr>
          <a:xfrm>
            <a:off x="812800" y="1869415"/>
            <a:ext cx="6096000" cy="4064000"/>
          </a:xfrm>
          <a:prstGeom prst="roundRect">
            <a:avLst>
              <a:gd name="adj" fmla="val 1875"/>
            </a:avLst>
          </a:prstGeom>
        </p:spPr>
      </p:pic>
      <p:sp>
        <p:nvSpPr>
          <p:cNvPr id="5" name="Text 2"/>
          <p:cNvSpPr/>
          <p:nvPr/>
        </p:nvSpPr>
        <p:spPr>
          <a:xfrm>
            <a:off x="7213600" y="1882115"/>
            <a:ext cx="4290568" cy="18923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A rusher at full speed needs room to pull up, like a car. We measured how hard the hardest one in a hundred rushers can brake, then asked for each of the 819 hits whether the rusher was already too close to stop when the ball left. For 51 percent he was. Allow the braking of a more ordinary rusher and it is 69 percent.</a:t>
            </a:r>
            <a:endParaRPr lang="en-US" sz="1500" dirty="0"/>
          </a:p>
        </p:txBody>
      </p:sp>
      <p:sp>
        <p:nvSpPr>
          <p:cNvPr id="6" name="Text 3"/>
          <p:cNvSpPr/>
          <p:nvPr/>
        </p:nvSpPr>
        <p:spPr>
          <a:xfrm>
            <a:off x="7213600" y="3901415"/>
            <a:ext cx="429056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Of 62 roughing the passer flags, 35 percent went to rushers who could not have stopped. Flagged hits were no more avoidable than hits that went unflagged, 46 percent against 51.</a:t>
            </a:r>
            <a:endParaRPr lang="en-US" sz="1500" dirty="0"/>
          </a:p>
        </p:txBody>
      </p:sp>
      <p:sp>
        <p:nvSpPr>
          <p:cNvPr id="7" name="Text 4"/>
          <p:cNvSpPr/>
          <p:nvPr/>
        </p:nvSpPr>
        <p:spPr>
          <a:xfrm>
            <a:off x="7213600" y="5120615"/>
            <a:ext cx="429056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The typical hitter was 1.6 yards away and moving at 4.6 yards per second when the ball left.</a:t>
            </a:r>
            <a:endParaRPr lang="en-US" sz="1500" dirty="0"/>
          </a:p>
        </p:txBody>
      </p:sp>
      <p:sp>
        <p:nvSpPr>
          <p:cNvPr id="8" name="Text 5"/>
          <p:cNvSpPr/>
          <p:nvPr/>
        </p:nvSpPr>
        <p:spPr>
          <a:xfrm>
            <a:off x="812800" y="6238280"/>
            <a:ext cx="100225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The tracking stops half a second after the throw, so this judges where everyone was at the throw, not the contact itself.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In 37 percent of hits, neither man could have done anything</a:t>
            </a:r>
            <a:endParaRPr lang="en-US" sz="3200" dirty="0"/>
          </a:p>
        </p:txBody>
      </p:sp>
      <p:sp>
        <p:nvSpPr>
          <p:cNvPr id="3" name="Shape 1"/>
          <p:cNvSpPr/>
          <p:nvPr/>
        </p:nvSpPr>
        <p:spPr>
          <a:xfrm>
            <a:off x="812800" y="1772909"/>
            <a:ext cx="5588000" cy="3810000"/>
          </a:xfrm>
          <a:prstGeom prst="roundRect">
            <a:avLst>
              <a:gd name="adj" fmla="val 2000"/>
            </a:avLst>
          </a:prstGeom>
          <a:solidFill>
            <a:srgbClr val="FCFCFB"/>
          </a:solidFill>
          <a:ln/>
        </p:spPr>
      </p:sp>
      <p:pic>
        <p:nvPicPr>
          <p:cNvPr id="4" name="Image 0" descr="A two by two grid of 819 hits. Rusher could not stop and quarterback could not see it or had no time, 306 hits, 37 percent. Both could have avoided it, 218, 27 percent. Only the rusher could, 187, 23 percent. Only the quarterback could, 108, 13 percent.">    </p:cNvPr>
          <p:cNvPicPr>
            <a:picLocks noChangeAspect="1"/>
          </p:cNvPicPr>
          <p:nvPr/>
        </p:nvPicPr>
        <p:blipFill>
          <a:blip r:embed="rId1"/>
          <a:srcRect l="0" r="0" t="-325" b="-325"/>
          <a:stretch/>
        </p:blipFill>
        <p:spPr>
          <a:xfrm>
            <a:off x="812800" y="1772909"/>
            <a:ext cx="5588000" cy="3810000"/>
          </a:xfrm>
          <a:prstGeom prst="roundRect">
            <a:avLst>
              <a:gd name="adj" fmla="val 2000"/>
            </a:avLst>
          </a:prstGeom>
        </p:spPr>
      </p:pic>
      <p:sp>
        <p:nvSpPr>
          <p:cNvPr id="5" name="Text 2"/>
          <p:cNvSpPr/>
          <p:nvPr/>
        </p:nvSpPr>
        <p:spPr>
          <a:xfrm>
            <a:off x="6705600" y="2058659"/>
            <a:ext cx="481380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The tracking records which way each quarterback is facing. We count a hit as something he could react to if the rusher was in front of him and more than half a second away when the ball left.</a:t>
            </a:r>
            <a:endParaRPr lang="en-US" sz="1500" dirty="0"/>
          </a:p>
        </p:txBody>
      </p:sp>
      <p:sp>
        <p:nvSpPr>
          <p:cNvPr id="6" name="Text 3"/>
          <p:cNvSpPr/>
          <p:nvPr/>
        </p:nvSpPr>
        <p:spPr>
          <a:xfrm>
            <a:off x="6705600" y="3277859"/>
            <a:ext cx="48138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Three in ten hits came from behind the quarterback. Another three in ten came from a rusher he could see but who was already inside half a second.</a:t>
            </a:r>
            <a:endParaRPr lang="en-US" sz="1500" dirty="0"/>
          </a:p>
        </p:txBody>
      </p:sp>
      <p:sp>
        <p:nvSpPr>
          <p:cNvPr id="7" name="Text 4"/>
          <p:cNvSpPr/>
          <p:nvPr/>
        </p:nvSpPr>
        <p:spPr>
          <a:xfrm>
            <a:off x="6705600" y="4230359"/>
            <a:ext cx="481380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The 306 hits in the bottom left corner are the ones no rule aimed at either man can reach. That corner is where protection schemes and the backfield pickup live.</a:t>
            </a:r>
            <a:endParaRPr lang="en-US" sz="1500" dirty="0"/>
          </a:p>
        </p:txBody>
      </p:sp>
      <p:sp>
        <p:nvSpPr>
          <p:cNvPr id="8" name="Text 5"/>
          <p:cNvSpPr/>
          <p:nvPr/>
        </p:nvSpPr>
        <p:spPr>
          <a:xfrm>
            <a:off x="812800" y="6238280"/>
            <a:ext cx="80271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Half a second is our reaction time, a human guess. The next slides replace that guess with a fly.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7F6F1"/>
                </a:solidFill>
                <a:latin typeface="Oswald" pitchFamily="34" charset="0"/>
                <a:ea typeface="Oswald" pitchFamily="34" charset="-122"/>
                <a:cs typeface="Oswald" pitchFamily="34" charset="-120"/>
              </a:rPr>
              <a:t>The bit of a fly's brain that makes it jump, copied cell for cell</a:t>
            </a:r>
            <a:endParaRPr lang="en-US" sz="3200" dirty="0"/>
          </a:p>
        </p:txBody>
      </p:sp>
      <p:sp>
        <p:nvSpPr>
          <p:cNvPr id="3" name="Shape 1"/>
          <p:cNvSpPr/>
          <p:nvPr/>
        </p:nvSpPr>
        <p:spPr>
          <a:xfrm>
            <a:off x="812800" y="1569709"/>
            <a:ext cx="6858000" cy="4191000"/>
          </a:xfrm>
          <a:prstGeom prst="roundRect">
            <a:avLst>
              <a:gd name="adj" fmla="val 1818"/>
            </a:avLst>
          </a:prstGeom>
          <a:solidFill>
            <a:srgbClr val="FCFCFB"/>
          </a:solidFill>
          <a:ln/>
        </p:spPr>
      </p:sp>
      <p:pic>
        <p:nvPicPr>
          <p:cNvPr id="4" name="Image 0" descr="The fly's escape circuit as a wiring diagram. Size detectors, 210 cells, and speed detectors, 104 cells, feed a jump neuron with 1,080 and 805 connections. Two sets of brake cells hold the detectors in check. The speed detectors also feed cells that jump backwards and forwards.">    </p:cNvPr>
          <p:cNvPicPr>
            <a:picLocks noChangeAspect="1"/>
          </p:cNvPicPr>
          <p:nvPr/>
        </p:nvPicPr>
        <p:blipFill>
          <a:blip r:embed="rId1"/>
          <a:stretch>
            <a:fillRect/>
          </a:stretch>
        </p:blipFill>
        <p:spPr>
          <a:xfrm>
            <a:off x="861961" y="1569709"/>
            <a:ext cx="6759677" cy="4191000"/>
          </a:xfrm>
          <a:custGeom>
            <a:avLst/>
            <a:gdLst/>
            <a:ahLst/>
            <a:cxnLst/>
            <a:rect l="l" t="t" r="r" b="b"/>
            <a:pathLst>
              <a:path w="6759677" h="4191000">
                <a:moveTo>
                  <a:pt x="0" y="4959"/>
                </a:moveTo>
                <a:arcTo wR="76200" hR="76200" stAng="14952986" swAng="1247014"/>
                <a:lnTo>
                  <a:pt x="6732639" y="0"/>
                </a:lnTo>
                <a:arcTo wR="76200" hR="76200" stAng="16200000" swAng="1247014"/>
                <a:lnTo>
                  <a:pt x="6759677" y="4186041"/>
                </a:lnTo>
                <a:arcTo wR="76200" hR="76200" stAng="4152986" swAng="1247014"/>
                <a:lnTo>
                  <a:pt x="27039" y="4191000"/>
                </a:lnTo>
                <a:arcTo wR="76200" hR="76200" stAng="5400000" swAng="1247014"/>
                <a:close/>
              </a:path>
            </a:pathLst>
          </a:custGeom>
        </p:spPr>
      </p:pic>
      <p:sp>
        <p:nvSpPr>
          <p:cNvPr id="5" name="Text 2"/>
          <p:cNvSpPr/>
          <p:nvPr/>
        </p:nvSpPr>
        <p:spPr>
          <a:xfrm>
            <a:off x="7975600" y="1409833"/>
            <a:ext cx="3505708" cy="15188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A fly has two sets of cells for spotting a threat. One set fires when something in its view is getting bigger, the other when it is getting bigger fast. Both feed one jump neuron, and when that neuron fires the fly is already in the air.</a:t>
            </a:r>
            <a:endParaRPr lang="en-US" sz="1400" dirty="0"/>
          </a:p>
        </p:txBody>
      </p:sp>
      <p:sp>
        <p:nvSpPr>
          <p:cNvPr id="6" name="Text 3"/>
          <p:cNvSpPr/>
          <p:nvPr/>
        </p:nvSpPr>
        <p:spPr>
          <a:xfrm>
            <a:off x="7975600" y="3042974"/>
            <a:ext cx="3505708"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We took every one of those cells from the fly's brain map, with the exact number of connections between them, and ran them as a working brain using the published electrical rules for fly nerve cells.</a:t>
            </a:r>
            <a:endParaRPr lang="en-US" sz="1400" dirty="0"/>
          </a:p>
        </p:txBody>
      </p:sp>
      <p:sp>
        <p:nvSpPr>
          <p:cNvPr id="7" name="Text 4"/>
          <p:cNvSpPr/>
          <p:nvPr/>
        </p:nvSpPr>
        <p:spPr>
          <a:xfrm>
            <a:off x="7975600" y="4427209"/>
            <a:ext cx="3505708" cy="15188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Shown a disc coming straight at it, our copy fires when the disc fills 32 to 39 degrees of view, 0.15 to 0.29 seconds before impact, and earlier for faster approaches. That is what the real fly's neuron does.</a:t>
            </a:r>
            <a:endParaRPr lang="en-US" sz="1400" dirty="0"/>
          </a:p>
        </p:txBody>
      </p:sp>
      <p:sp>
        <p:nvSpPr>
          <p:cNvPr id="8" name="Text 5"/>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4"/>
                </a:solidFill>
                <a:latin typeface="Public Sans" pitchFamily="34" charset="0"/>
                <a:ea typeface="Public Sans" pitchFamily="34" charset="-122"/>
                <a:cs typeface="Public Sans" pitchFamily="34" charset="-120"/>
              </a:rPr>
              <a:t>365 cells and 13,514 connections. One dial, how loud the detectors shout, set so the copy fires where the real fly does. Nothing was tuned on football.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F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7F6F1"/>
                </a:solidFill>
                <a:latin typeface="Oswald" pitchFamily="34" charset="0"/>
                <a:ea typeface="Oswald" pitchFamily="34" charset="-122"/>
                <a:cs typeface="Oswald" pitchFamily="34" charset="-120"/>
              </a:rPr>
              <a:t>The fly watches every play through the quarterback's eyes</a:t>
            </a:r>
            <a:endParaRPr lang="en-US" sz="3200" dirty="0"/>
          </a:p>
        </p:txBody>
      </p:sp>
      <p:sp>
        <p:nvSpPr>
          <p:cNvPr id="3" name="Shape 1"/>
          <p:cNvSpPr/>
          <p:nvPr/>
        </p:nvSpPr>
        <p:spPr>
          <a:xfrm>
            <a:off x="812800" y="1950709"/>
            <a:ext cx="7493000" cy="3429000"/>
          </a:xfrm>
          <a:prstGeom prst="roundRect">
            <a:avLst>
              <a:gd name="adj" fmla="val 2222"/>
            </a:avLst>
          </a:prstGeom>
          <a:solidFill>
            <a:srgbClr val="FCFCFB"/>
          </a:solidFill>
          <a:ln/>
        </p:spPr>
      </p:sp>
      <p:pic>
        <p:nvPicPr>
          <p:cNvPr id="4" name="Image 0" descr="A frame of the animated play. On the left, the field with Patrick Mahomes in the pocket as Myles Garrett closes in. On the right, how busy the fly's two sets of detectors are and how close its jump neuron is to firing, with the moment it fires marked 0.8 seconds before the sack.">    </p:cNvPr>
          <p:cNvPicPr>
            <a:picLocks noChangeAspect="1"/>
          </p:cNvPicPr>
          <p:nvPr/>
        </p:nvPicPr>
        <p:blipFill>
          <a:blip r:embed="rId1"/>
          <a:stretch>
            <a:fillRect/>
          </a:stretch>
        </p:blipFill>
        <p:spPr>
          <a:xfrm>
            <a:off x="812800" y="1979284"/>
            <a:ext cx="7493000" cy="3371850"/>
          </a:xfrm>
          <a:custGeom>
            <a:avLst/>
            <a:gdLst/>
            <a:ahLst/>
            <a:cxnLst/>
            <a:rect l="l" t="t" r="r" b="b"/>
            <a:pathLst>
              <a:path w="7493000" h="3371850">
                <a:moveTo>
                  <a:pt x="0" y="47625"/>
                </a:moveTo>
                <a:arcTo wR="76200" hR="76200" stAng="10800000" swAng="2320931"/>
                <a:lnTo>
                  <a:pt x="7476284" y="0"/>
                </a:lnTo>
                <a:arcTo wR="76200" hR="76200" stAng="19279069" swAng="2320931"/>
                <a:lnTo>
                  <a:pt x="7493000" y="3324225"/>
                </a:lnTo>
                <a:arcTo wR="76200" hR="76200" stAng="0" swAng="2320931"/>
                <a:lnTo>
                  <a:pt x="16716" y="3371850"/>
                </a:lnTo>
                <a:arcTo wR="76200" hR="76200" stAng="8479069" swAng="2320931"/>
                <a:close/>
              </a:path>
            </a:pathLst>
          </a:custGeom>
        </p:spPr>
      </p:pic>
      <p:sp>
        <p:nvSpPr>
          <p:cNvPr id="5" name="Text 2"/>
          <p:cNvSpPr/>
          <p:nvPr/>
        </p:nvSpPr>
        <p:spPr>
          <a:xfrm>
            <a:off x="8610600" y="1658677"/>
            <a:ext cx="2851658" cy="15188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We know where the quarterback is and which way he faces. Every rusher in front of him becomes a shape in his view, growing as the rusher gets closer, ten times a second.</a:t>
            </a:r>
            <a:endParaRPr lang="en-US" sz="1400" dirty="0"/>
          </a:p>
        </p:txBody>
      </p:sp>
      <p:sp>
        <p:nvSpPr>
          <p:cNvPr id="6" name="Text 3"/>
          <p:cNvSpPr/>
          <p:nvPr/>
        </p:nvSpPr>
        <p:spPr>
          <a:xfrm>
            <a:off x="8610600" y="3291818"/>
            <a:ext cx="2851658"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Those shapes feed the fly's detectors, which are spread across the quarterback's field of view the way they are spread across a fly's eye.</a:t>
            </a:r>
            <a:endParaRPr lang="en-US" sz="1400" dirty="0"/>
          </a:p>
        </p:txBody>
      </p:sp>
      <p:sp>
        <p:nvSpPr>
          <p:cNvPr id="7" name="Text 4"/>
          <p:cNvSpPr/>
          <p:nvPr/>
        </p:nvSpPr>
        <p:spPr>
          <a:xfrm>
            <a:off x="8610600" y="4676049"/>
            <a:ext cx="2851658"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FE6EE"/>
                </a:solidFill>
                <a:latin typeface="Public Sans" pitchFamily="34" charset="0"/>
                <a:ea typeface="Public Sans" pitchFamily="34" charset="-122"/>
                <a:cs typeface="Public Sans" pitchFamily="34" charset="-120"/>
              </a:rPr>
              <a:t>Here Myles Garrett closes on Patrick Mahomes. The fly's jump neuron fires 2.7 seconds after the snap. The sack comes at 3.5.</a:t>
            </a:r>
            <a:endParaRPr lang="en-US" sz="1400" dirty="0"/>
          </a:p>
        </p:txBody>
      </p:sp>
      <p:sp>
        <p:nvSpPr>
          <p:cNvPr id="8" name="Text 5"/>
          <p:cNvSpPr/>
          <p:nvPr/>
        </p:nvSpPr>
        <p:spPr>
          <a:xfrm>
            <a:off x="812800" y="6238280"/>
            <a:ext cx="7600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4"/>
                </a:solidFill>
                <a:latin typeface="Public Sans" pitchFamily="34" charset="0"/>
                <a:ea typeface="Public Sans" pitchFamily="34" charset="-122"/>
                <a:cs typeface="Public Sans" pitchFamily="34" charset="-120"/>
              </a:rPr>
              <a:t>Week 1, Browns at Chiefs. The full animation is in the results bundle and on the dashboard.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On 6 percent of dropbacks the fly would have jumped before the ball left</a:t>
            </a:r>
            <a:endParaRPr lang="en-US" sz="3200" dirty="0"/>
          </a:p>
        </p:txBody>
      </p:sp>
      <p:sp>
        <p:nvSpPr>
          <p:cNvPr id="3" name="Shape 1"/>
          <p:cNvSpPr/>
          <p:nvPr/>
        </p:nvSpPr>
        <p:spPr>
          <a:xfrm>
            <a:off x="812800" y="2091668"/>
            <a:ext cx="6477000" cy="3619500"/>
          </a:xfrm>
          <a:prstGeom prst="roundRect">
            <a:avLst>
              <a:gd name="adj" fmla="val 2105"/>
            </a:avLst>
          </a:prstGeom>
          <a:solidFill>
            <a:srgbClr val="FCFCFB"/>
          </a:solidFill>
          <a:ln/>
        </p:spPr>
      </p:sp>
      <p:pic>
        <p:nvPicPr>
          <p:cNvPr id="4" name="Image 0" descr="Histogram of the seconds between the fly brain firing and the ball leaving, across 1,628 plays where it fired. Most firings come 0.1 to 0.5 seconds after the ball has gone. On 533 plays it fired while the quarterback still held the ball.">    </p:cNvPr>
          <p:cNvPicPr>
            <a:picLocks noChangeAspect="1"/>
          </p:cNvPicPr>
          <p:nvPr/>
        </p:nvPicPr>
        <p:blipFill>
          <a:blip r:embed="rId1"/>
          <a:srcRect l="-105" r="-105" t="0" b="0"/>
          <a:stretch/>
        </p:blipFill>
        <p:spPr>
          <a:xfrm>
            <a:off x="812800" y="2091668"/>
            <a:ext cx="6477000" cy="3619500"/>
          </a:xfrm>
          <a:prstGeom prst="roundRect">
            <a:avLst>
              <a:gd name="adj" fmla="val 2105"/>
            </a:avLst>
          </a:prstGeom>
        </p:spPr>
      </p:pic>
      <p:sp>
        <p:nvSpPr>
          <p:cNvPr id="5" name="Shape 2"/>
          <p:cNvSpPr/>
          <p:nvPr/>
        </p:nvSpPr>
        <p:spPr>
          <a:xfrm>
            <a:off x="7597775" y="2122029"/>
            <a:ext cx="3778250" cy="1277144"/>
          </a:xfrm>
          <a:prstGeom prst="roundRect">
            <a:avLst>
              <a:gd name="adj" fmla="val 7707"/>
            </a:avLst>
          </a:prstGeom>
          <a:solidFill>
            <a:srgbClr val="FFFFFF"/>
          </a:solidFill>
          <a:ln w="6350">
            <a:solidFill>
              <a:srgbClr val="DCDAD2"/>
            </a:solidFill>
            <a:prstDash val="solid"/>
          </a:ln>
        </p:spPr>
      </p:sp>
      <p:sp>
        <p:nvSpPr>
          <p:cNvPr id="6" name="Text 3"/>
          <p:cNvSpPr/>
          <p:nvPr/>
        </p:nvSpPr>
        <p:spPr>
          <a:xfrm>
            <a:off x="7802034" y="2326283"/>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1,628</a:t>
            </a:r>
            <a:endParaRPr lang="en-US" sz="3600" dirty="0"/>
          </a:p>
        </p:txBody>
      </p:sp>
      <p:sp>
        <p:nvSpPr>
          <p:cNvPr id="7" name="Text 4"/>
          <p:cNvSpPr/>
          <p:nvPr/>
        </p:nvSpPr>
        <p:spPr>
          <a:xfrm>
            <a:off x="7802034" y="2783483"/>
            <a:ext cx="3470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of 8,377 plays made the fly brain fire at some point, 19 percent</a:t>
            </a:r>
            <a:endParaRPr lang="en-US" sz="1200" dirty="0"/>
          </a:p>
        </p:txBody>
      </p:sp>
      <p:sp>
        <p:nvSpPr>
          <p:cNvPr id="8" name="Shape 5"/>
          <p:cNvSpPr/>
          <p:nvPr/>
        </p:nvSpPr>
        <p:spPr>
          <a:xfrm>
            <a:off x="7597775" y="3557922"/>
            <a:ext cx="3778250" cy="1277144"/>
          </a:xfrm>
          <a:prstGeom prst="roundRect">
            <a:avLst>
              <a:gd name="adj" fmla="val 7707"/>
            </a:avLst>
          </a:prstGeom>
          <a:solidFill>
            <a:srgbClr val="FFFFFF"/>
          </a:solidFill>
          <a:ln w="6350">
            <a:solidFill>
              <a:srgbClr val="DCDAD2"/>
            </a:solidFill>
            <a:prstDash val="solid"/>
          </a:ln>
        </p:spPr>
      </p:sp>
      <p:sp>
        <p:nvSpPr>
          <p:cNvPr id="9" name="Text 6"/>
          <p:cNvSpPr/>
          <p:nvPr/>
        </p:nvSpPr>
        <p:spPr>
          <a:xfrm>
            <a:off x="7802034" y="3762177"/>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EB6834"/>
                </a:solidFill>
                <a:latin typeface="Oswald" pitchFamily="34" charset="0"/>
                <a:ea typeface="Oswald" pitchFamily="34" charset="-122"/>
                <a:cs typeface="Oswald" pitchFamily="34" charset="-120"/>
              </a:rPr>
              <a:t>533</a:t>
            </a:r>
            <a:endParaRPr lang="en-US" sz="3600" dirty="0"/>
          </a:p>
        </p:txBody>
      </p:sp>
      <p:sp>
        <p:nvSpPr>
          <p:cNvPr id="10" name="Text 7"/>
          <p:cNvSpPr/>
          <p:nvPr/>
        </p:nvSpPr>
        <p:spPr>
          <a:xfrm>
            <a:off x="7802034" y="4219377"/>
            <a:ext cx="3470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plays on which it fired while the quarterback still held the ball, 6.4 percent of all dropbacks</a:t>
            </a:r>
            <a:endParaRPr lang="en-US" sz="1200" dirty="0"/>
          </a:p>
        </p:txBody>
      </p:sp>
      <p:sp>
        <p:nvSpPr>
          <p:cNvPr id="11" name="Text 8"/>
          <p:cNvSpPr/>
          <p:nvPr/>
        </p:nvSpPr>
        <p:spPr>
          <a:xfrm>
            <a:off x="7594600" y="4990641"/>
            <a:ext cx="389813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Most of the time the quarterback gets rid of the ball first and the fly fires a fraction of a second later, as the rusher arrives at an empty pocket.</a:t>
            </a:r>
            <a:endParaRPr lang="en-US" sz="1300" dirty="0"/>
          </a:p>
        </p:txBody>
      </p:sp>
      <p:sp>
        <p:nvSpPr>
          <p:cNvPr id="12" name="Text 9"/>
          <p:cNvSpPr/>
          <p:nvPr/>
        </p:nvSpPr>
        <p:spPr>
          <a:xfrm>
            <a:off x="812800" y="6238280"/>
            <a:ext cx="104970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Plays longer than 6.5 seconds left out. The fly is a cautious judge by design, firing only when the rusher is under a yard away.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When the fly fires first, the quarterback is sacked 58 percent of the time</a:t>
            </a:r>
            <a:endParaRPr lang="en-US" sz="3200" dirty="0"/>
          </a:p>
        </p:txBody>
      </p:sp>
      <p:sp>
        <p:nvSpPr>
          <p:cNvPr id="3" name="Shape 1"/>
          <p:cNvSpPr/>
          <p:nvPr/>
        </p:nvSpPr>
        <p:spPr>
          <a:xfrm>
            <a:off x="812800" y="2313918"/>
            <a:ext cx="6477000" cy="3175000"/>
          </a:xfrm>
          <a:prstGeom prst="roundRect">
            <a:avLst>
              <a:gd name="adj" fmla="val 2400"/>
            </a:avLst>
          </a:prstGeom>
          <a:solidFill>
            <a:srgbClr val="FCFCFB"/>
          </a:solidFill>
          <a:ln/>
        </p:spPr>
      </p:sp>
      <p:pic>
        <p:nvPicPr>
          <p:cNvPr id="4" name="Image 0" descr="Bars of sack, hit and pressure rates by when the fly brain fired. Fired before the throw, 533 plays, sacked 58 percent, hit 17, any pressure 97. Fired within half a second after, 854 plays, sacked 6, hit 35, pressure 79. Fired later, 241 plays, sacked 2, hit 17. Never fired, 6,749 plays, sacked 2, hit 5, pressure 25.">    </p:cNvPr>
          <p:cNvPicPr>
            <a:picLocks noChangeAspect="1"/>
          </p:cNvPicPr>
          <p:nvPr/>
        </p:nvPicPr>
        <p:blipFill>
          <a:blip r:embed="rId1"/>
          <a:stretch>
            <a:fillRect/>
          </a:stretch>
        </p:blipFill>
        <p:spPr>
          <a:xfrm>
            <a:off x="812800" y="2346938"/>
            <a:ext cx="6477000" cy="3108960"/>
          </a:xfrm>
          <a:custGeom>
            <a:avLst/>
            <a:gdLst/>
            <a:ahLst/>
            <a:cxnLst/>
            <a:rect l="l" t="t" r="r" b="b"/>
            <a:pathLst>
              <a:path w="6477000" h="3108960">
                <a:moveTo>
                  <a:pt x="0" y="43180"/>
                </a:moveTo>
                <a:arcTo wR="76200" hR="76200" stAng="10800000" swAng="2071086"/>
                <a:lnTo>
                  <a:pt x="6463585" y="0"/>
                </a:lnTo>
                <a:arcTo wR="76200" hR="76200" stAng="19528914" swAng="2071086"/>
                <a:lnTo>
                  <a:pt x="6477000" y="3065780"/>
                </a:lnTo>
                <a:arcTo wR="76200" hR="76200" stAng="0" swAng="2071086"/>
                <a:lnTo>
                  <a:pt x="13415" y="3108960"/>
                </a:lnTo>
                <a:arcTo wR="76200" hR="76200" stAng="8728914" swAng="2071086"/>
                <a:close/>
              </a:path>
            </a:pathLst>
          </a:custGeom>
        </p:spPr>
      </p:pic>
      <p:sp>
        <p:nvSpPr>
          <p:cNvPr id="5" name="Shape 2"/>
          <p:cNvSpPr/>
          <p:nvPr/>
        </p:nvSpPr>
        <p:spPr>
          <a:xfrm>
            <a:off x="7597775" y="2122029"/>
            <a:ext cx="3778250" cy="1277144"/>
          </a:xfrm>
          <a:prstGeom prst="roundRect">
            <a:avLst>
              <a:gd name="adj" fmla="val 7707"/>
            </a:avLst>
          </a:prstGeom>
          <a:solidFill>
            <a:srgbClr val="FFFFFF"/>
          </a:solidFill>
          <a:ln w="6350">
            <a:solidFill>
              <a:srgbClr val="DCDAD2"/>
            </a:solidFill>
            <a:prstDash val="solid"/>
          </a:ln>
        </p:spPr>
      </p:sp>
      <p:sp>
        <p:nvSpPr>
          <p:cNvPr id="6" name="Text 3"/>
          <p:cNvSpPr/>
          <p:nvPr/>
        </p:nvSpPr>
        <p:spPr>
          <a:xfrm>
            <a:off x="7802034" y="2326283"/>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E34948"/>
                </a:solidFill>
                <a:latin typeface="Oswald" pitchFamily="34" charset="0"/>
                <a:ea typeface="Oswald" pitchFamily="34" charset="-122"/>
                <a:cs typeface="Oswald" pitchFamily="34" charset="-120"/>
              </a:rPr>
              <a:t>58% v 2.5%</a:t>
            </a:r>
            <a:endParaRPr lang="en-US" sz="3600" dirty="0"/>
          </a:p>
        </p:txBody>
      </p:sp>
      <p:sp>
        <p:nvSpPr>
          <p:cNvPr id="7" name="Text 4"/>
          <p:cNvSpPr/>
          <p:nvPr/>
        </p:nvSpPr>
        <p:spPr>
          <a:xfrm>
            <a:off x="7802034" y="2783483"/>
            <a:ext cx="3470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Sack rate when the fly fired before the throw, against every other play</a:t>
            </a:r>
            <a:endParaRPr lang="en-US" sz="1200" dirty="0"/>
          </a:p>
        </p:txBody>
      </p:sp>
      <p:sp>
        <p:nvSpPr>
          <p:cNvPr id="8" name="Shape 5"/>
          <p:cNvSpPr/>
          <p:nvPr/>
        </p:nvSpPr>
        <p:spPr>
          <a:xfrm>
            <a:off x="7597775" y="3557922"/>
            <a:ext cx="3778250" cy="1277144"/>
          </a:xfrm>
          <a:prstGeom prst="roundRect">
            <a:avLst>
              <a:gd name="adj" fmla="val 7707"/>
            </a:avLst>
          </a:prstGeom>
          <a:solidFill>
            <a:srgbClr val="FFFFFF"/>
          </a:solidFill>
          <a:ln w="6350">
            <a:solidFill>
              <a:srgbClr val="DCDAD2"/>
            </a:solidFill>
            <a:prstDash val="solid"/>
          </a:ln>
        </p:spPr>
      </p:sp>
      <p:sp>
        <p:nvSpPr>
          <p:cNvPr id="9" name="Text 6"/>
          <p:cNvSpPr/>
          <p:nvPr/>
        </p:nvSpPr>
        <p:spPr>
          <a:xfrm>
            <a:off x="7802034" y="3762177"/>
            <a:ext cx="347082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0F1F33"/>
                </a:solidFill>
                <a:latin typeface="Oswald" pitchFamily="34" charset="0"/>
                <a:ea typeface="Oswald" pitchFamily="34" charset="-122"/>
                <a:cs typeface="Oswald" pitchFamily="34" charset="-120"/>
              </a:rPr>
              <a:t>0.79</a:t>
            </a:r>
            <a:endParaRPr lang="en-US" sz="3600" dirty="0"/>
          </a:p>
        </p:txBody>
      </p:sp>
      <p:sp>
        <p:nvSpPr>
          <p:cNvPr id="10" name="Text 7"/>
          <p:cNvSpPr/>
          <p:nvPr/>
        </p:nvSpPr>
        <p:spPr>
          <a:xfrm>
            <a:off x="7802034" y="4219377"/>
            <a:ext cx="3470825"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How well the fly's yes or no picks out the sacks, where 1 is perfect and 0.5 is a coin toss</a:t>
            </a:r>
            <a:endParaRPr lang="en-US" sz="1200" dirty="0"/>
          </a:p>
        </p:txBody>
      </p:sp>
      <p:sp>
        <p:nvSpPr>
          <p:cNvPr id="11" name="Text 8"/>
          <p:cNvSpPr/>
          <p:nvPr/>
        </p:nvSpPr>
        <p:spPr>
          <a:xfrm>
            <a:off x="7594600" y="4990641"/>
            <a:ext cx="389813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Public Sans" pitchFamily="34" charset="0"/>
                <a:ea typeface="Public Sans" pitchFamily="34" charset="-122"/>
                <a:cs typeface="Public Sans" pitchFamily="34" charset="-120"/>
              </a:rPr>
              <a:t>When the fly fires just after the throw, the rusher has arrived. Those plays carry a 35 percent hit rate, seven times the normal rate.</a:t>
            </a:r>
            <a:endParaRPr lang="en-US" sz="1300" dirty="0"/>
          </a:p>
        </p:txBody>
      </p:sp>
      <p:sp>
        <p:nvSpPr>
          <p:cNvPr id="12" name="Text 9"/>
          <p:cNvSpPr/>
          <p:nvPr/>
        </p:nvSpPr>
        <p:spPr>
          <a:xfrm>
            <a:off x="812800" y="6238280"/>
            <a:ext cx="7611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The fly brain was never shown a football result. Its one dial was set on a fly's own stimulus.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Which quarterbacks hold the ball past the point where a fly would have jumped</a:t>
            </a:r>
            <a:endParaRPr lang="en-US" sz="3200" dirty="0"/>
          </a:p>
        </p:txBody>
      </p:sp>
      <p:sp>
        <p:nvSpPr>
          <p:cNvPr id="3" name="Shape 1"/>
          <p:cNvSpPr/>
          <p:nvPr/>
        </p:nvSpPr>
        <p:spPr>
          <a:xfrm>
            <a:off x="812800" y="1678918"/>
            <a:ext cx="5461000" cy="4445000"/>
          </a:xfrm>
          <a:prstGeom prst="roundRect">
            <a:avLst>
              <a:gd name="adj" fmla="val 1714"/>
            </a:avLst>
          </a:prstGeom>
          <a:solidFill>
            <a:srgbClr val="FCFCFB"/>
          </a:solidFill>
          <a:ln/>
        </p:spPr>
      </p:sp>
      <p:pic>
        <p:nvPicPr>
          <p:cNvPr id="4" name="Image 0" descr="Bars for 31 quarterbacks with at least 150 dropbacks, showing the share of dropbacks on which the fly brain fired before the ball left. Davis Mills 14 percent, Jameis Winston 12, Carson Wentz 10, down to Matthew Stafford 4 and Ben Roethlisberger 3.">    </p:cNvPr>
          <p:cNvPicPr>
            <a:picLocks noChangeAspect="1"/>
          </p:cNvPicPr>
          <p:nvPr/>
        </p:nvPicPr>
        <p:blipFill>
          <a:blip r:embed="rId1"/>
          <a:stretch>
            <a:fillRect/>
          </a:stretch>
        </p:blipFill>
        <p:spPr>
          <a:xfrm>
            <a:off x="938808" y="1678918"/>
            <a:ext cx="5208984" cy="4445000"/>
          </a:xfrm>
          <a:prstGeom prst="rect">
            <a:avLst/>
          </a:prstGeom>
        </p:spPr>
      </p:pic>
      <p:sp>
        <p:nvSpPr>
          <p:cNvPr id="5" name="Text 2"/>
          <p:cNvSpPr/>
          <p:nvPr/>
        </p:nvSpPr>
        <p:spPr>
          <a:xfrm>
            <a:off x="6578600" y="1806842"/>
            <a:ext cx="4944618"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Davis Mills was past the fly's point on 14 percent of his dropbacks. Ben Roethlisberger on 3 percent. The number belongs to the quarterback and his blockers together, which is what a coach would want from it.</a:t>
            </a:r>
            <a:endParaRPr lang="en-US" sz="1500" dirty="0"/>
          </a:p>
        </p:txBody>
      </p:sp>
      <p:sp>
        <p:nvSpPr>
          <p:cNvPr id="6" name="Text 3"/>
          <p:cNvSpPr/>
          <p:nvPr/>
        </p:nvSpPr>
        <p:spPr>
          <a:xfrm>
            <a:off x="6578600" y="3026042"/>
            <a:ext cx="4944618"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Public Sans" pitchFamily="34" charset="0"/>
                <a:ea typeface="Public Sans" pitchFamily="34" charset="-122"/>
                <a:cs typeface="Public Sans" pitchFamily="34" charset="-120"/>
              </a:rPr>
              <a:t>The fly also gives an early warning signal, not just a trigger. How close its jump neuron is to firing, read ten times a second, tells you a throw is coming in the next third of a second about as well as the distance to the nearest rusher does, and the two together do better than either.</a:t>
            </a:r>
            <a:endParaRPr lang="en-US" sz="1500" dirty="0"/>
          </a:p>
        </p:txBody>
      </p:sp>
      <p:sp>
        <p:nvSpPr>
          <p:cNvPr id="7" name="Text 4"/>
          <p:cNvSpPr/>
          <p:nvPr/>
        </p:nvSpPr>
        <p:spPr>
          <a:xfrm>
            <a:off x="6581775" y="4781817"/>
            <a:ext cx="4794250" cy="1210998"/>
          </a:xfrm>
          <a:prstGeom prst="roundRect">
            <a:avLst>
              <a:gd name="adj" fmla="val 8128"/>
            </a:avLst>
          </a:prstGeom>
          <a:solidFill>
            <a:srgbClr val="FFFFFF"/>
          </a:solidFill>
          <a:ln w="6350">
            <a:solidFill>
              <a:srgbClr val="DCDAD2"/>
            </a:solidFill>
            <a:prstDash val="solid"/>
          </a:ln>
        </p:spPr>
        <p:txBody>
          <a:bodyPr wrap="square" lIns="150031" tIns="150031" rIns="16934" bIns="124631" rtlCol="0" anchor="t">
            <a:normAutofit/>
          </a:bodyPr>
          <a:lstStyle/>
          <a:p>
            <a:pPr algn="l" indent="0" marL="0">
              <a:lnSpc>
                <a:spcPts val="1680"/>
              </a:lnSpc>
              <a:buNone/>
            </a:pPr>
            <a:r>
              <a:rPr lang="en-US" sz="1200" dirty="0">
                <a:solidFill>
                  <a:srgbClr val="4A5568"/>
                </a:solidFill>
                <a:latin typeface="Public Sans" pitchFamily="34" charset="0"/>
                <a:ea typeface="Public Sans" pitchFamily="34" charset="-122"/>
                <a:cs typeface="Public Sans" pitchFamily="34" charset="-120"/>
              </a:rPr>
              <a:t>Scored on two weeks the model never saw, where 1 is perfect and 0.5 is a coin toss. Time since the snap alone 0.84. Add the nearest rusher's distance 0.86. Add the fly's warning signal instead 0.86. Add both 0.87.</a:t>
            </a:r>
            <a:endParaRPr lang="en-US" sz="1200" dirty="0"/>
          </a:p>
        </p:txBody>
      </p:sp>
      <p:sp>
        <p:nvSpPr>
          <p:cNvPr id="8" name="Text 5"/>
          <p:cNvSpPr/>
          <p:nvPr/>
        </p:nvSpPr>
        <p:spPr>
          <a:xfrm>
            <a:off x="812800" y="6238280"/>
            <a:ext cx="93174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Quarterbacks with at least 150 dropbacks. Warning signal tested on weeks 1 to 6 and scored on weeks 7 and 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0F1F33"/>
                </a:solidFill>
                <a:latin typeface="Oswald" pitchFamily="34" charset="0"/>
                <a:ea typeface="Oswald" pitchFamily="34" charset="-122"/>
                <a:cs typeface="Oswald" pitchFamily="34" charset="-120"/>
              </a:rPr>
              <a:t>Fast threats end in sacks, slow ones in scrambles, and quarterbacks dodge the way flies do</a:t>
            </a:r>
            <a:endParaRPr lang="en-US" sz="3200" dirty="0"/>
          </a:p>
        </p:txBody>
      </p:sp>
      <p:sp>
        <p:nvSpPr>
          <p:cNvPr id="3" name="Text 1"/>
          <p:cNvSpPr/>
          <p:nvPr/>
        </p:nvSpPr>
        <p:spPr>
          <a:xfrm>
            <a:off x="812800" y="1960829"/>
            <a:ext cx="5284724" cy="126993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Public Sans" pitchFamily="34" charset="0"/>
                <a:ea typeface="Public Sans" pitchFamily="34" charset="-122"/>
                <a:cs typeface="Public Sans" pitchFamily="34" charset="-120"/>
              </a:rPr>
              <a:t>A fly chooses between a quick, clumsy jump and a slower, careful one depending on how fast the threat is coming. On the 533 plays where the fly fired first, we split the plays the same way, by whether its speed detectors or its size detectors were doing the shouting.</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3370461"/>
          <a:ext cx="5118100" cy="1899444"/>
        </p:xfrm>
        <a:graphic>
          <a:graphicData uri="http://schemas.openxmlformats.org/drawingml/2006/table">
            <a:tbl>
              <a:tblPr/>
              <a:tblGrid>
                <a:gridCol w="1433068"/>
                <a:gridCol w="921258"/>
                <a:gridCol w="921258"/>
                <a:gridCol w="921258"/>
                <a:gridCol w="921258"/>
              </a:tblGrid>
              <a:tr h="590418">
                <a:tc>
                  <a:txBody>
                    <a:bodyPr/>
                    <a:lstStyle/>
                    <a:p>
                      <a:pPr indent="0" marL="0">
                        <a:lnSpc>
                          <a:spcPts val="1820"/>
                        </a:lnSpc>
                        <a:buNone/>
                      </a:pPr>
                      <a:r>
                        <a:rPr lang="en-US" sz="1300" b="1" dirty="0">
                          <a:solidFill>
                            <a:srgbClr val="0F1F33"/>
                          </a:solidFill>
                          <a:latin typeface="Public Sans" pitchFamily="34" charset="0"/>
                          <a:ea typeface="Public Sans" pitchFamily="34" charset="-122"/>
                          <a:cs typeface="Public Sans" pitchFamily="34" charset="-120"/>
                        </a:rPr>
                        <a:t>Threat when the fly fired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AB9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AB9B2"/>
                      </a:solidFill>
                      <a:prstDash val="solid"/>
                      <a:round/>
                      <a:headEnd type="none" w="med" len="med"/>
                      <a:tailEnd type="none" w="med" len="med"/>
                    </a:lnB>
                    <a:solidFill>
                      <a:srgbClr val="E9E7DF"/>
                    </a:solidFill>
                  </a:tcPr>
                </a:tc>
                <a:tc>
                  <a:txBody>
                    <a:bodyPr/>
                    <a:lstStyle/>
                    <a:p>
                      <a:pPr indent="0" marL="0">
                        <a:lnSpc>
                          <a:spcPts val="1820"/>
                        </a:lnSpc>
                        <a:buNone/>
                      </a:pPr>
                      <a:r>
                        <a:rPr lang="en-US" sz="1300" b="1" dirty="0">
                          <a:solidFill>
                            <a:srgbClr val="0F1F33"/>
                          </a:solidFill>
                          <a:latin typeface="Public Sans" pitchFamily="34" charset="0"/>
                          <a:ea typeface="Public Sans" pitchFamily="34" charset="-122"/>
                          <a:cs typeface="Public Sans" pitchFamily="34" charset="-120"/>
                        </a:rPr>
                        <a:t>Sacked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9B2"/>
                      </a:solidFill>
                      <a:prstDash val="solid"/>
                      <a:round/>
                      <a:headEnd type="none" w="med" len="med"/>
                      <a:tailEnd type="none" w="med" len="med"/>
                    </a:lnL>
                    <a:lnR w="12700" cap="flat" cmpd="sng" algn="ctr">
                      <a:solidFill>
                        <a:srgbClr val="BAB9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AB9B2"/>
                      </a:solidFill>
                      <a:prstDash val="solid"/>
                      <a:round/>
                      <a:headEnd type="none" w="med" len="med"/>
                      <a:tailEnd type="none" w="med" len="med"/>
                    </a:lnB>
                    <a:solidFill>
                      <a:srgbClr val="E9E7DF"/>
                    </a:solidFill>
                  </a:tcPr>
                </a:tc>
                <a:tc>
                  <a:txBody>
                    <a:bodyPr/>
                    <a:lstStyle/>
                    <a:p>
                      <a:pPr indent="0" marL="0">
                        <a:lnSpc>
                          <a:spcPts val="1820"/>
                        </a:lnSpc>
                        <a:buNone/>
                      </a:pPr>
                      <a:r>
                        <a:rPr lang="en-US" sz="1300" b="1" dirty="0">
                          <a:solidFill>
                            <a:srgbClr val="0F1F33"/>
                          </a:solidFill>
                          <a:latin typeface="Public Sans" pitchFamily="34" charset="0"/>
                          <a:ea typeface="Public Sans" pitchFamily="34" charset="-122"/>
                          <a:cs typeface="Public Sans" pitchFamily="34" charset="-120"/>
                        </a:rPr>
                        <a:t>Scrambled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9B2"/>
                      </a:solidFill>
                      <a:prstDash val="solid"/>
                      <a:round/>
                      <a:headEnd type="none" w="med" len="med"/>
                      <a:tailEnd type="none" w="med" len="med"/>
                    </a:lnL>
                    <a:lnR w="12700" cap="flat" cmpd="sng" algn="ctr">
                      <a:solidFill>
                        <a:srgbClr val="BAB9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AB9B2"/>
                      </a:solidFill>
                      <a:prstDash val="solid"/>
                      <a:round/>
                      <a:headEnd type="none" w="med" len="med"/>
                      <a:tailEnd type="none" w="med" len="med"/>
                    </a:lnB>
                    <a:solidFill>
                      <a:srgbClr val="E9E7DF"/>
                    </a:solidFill>
                  </a:tcPr>
                </a:tc>
                <a:tc>
                  <a:txBody>
                    <a:bodyPr/>
                    <a:lstStyle/>
                    <a:p>
                      <a:pPr indent="0" marL="0">
                        <a:lnSpc>
                          <a:spcPts val="1820"/>
                        </a:lnSpc>
                        <a:buNone/>
                      </a:pPr>
                      <a:r>
                        <a:rPr lang="en-US" sz="1300" b="1" dirty="0">
                          <a:solidFill>
                            <a:srgbClr val="0F1F33"/>
                          </a:solidFill>
                          <a:latin typeface="Public Sans" pitchFamily="34" charset="0"/>
                          <a:ea typeface="Public Sans" pitchFamily="34" charset="-122"/>
                          <a:cs typeface="Public Sans" pitchFamily="34" charset="-120"/>
                        </a:rPr>
                        <a:t>Threw at once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9B2"/>
                      </a:solidFill>
                      <a:prstDash val="solid"/>
                      <a:round/>
                      <a:headEnd type="none" w="med" len="med"/>
                      <a:tailEnd type="none" w="med" len="med"/>
                    </a:lnL>
                    <a:lnR w="12700" cap="flat" cmpd="sng" algn="ctr">
                      <a:solidFill>
                        <a:srgbClr val="BAB9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AB9B2"/>
                      </a:solidFill>
                      <a:prstDash val="solid"/>
                      <a:round/>
                      <a:headEnd type="none" w="med" len="med"/>
                      <a:tailEnd type="none" w="med" len="med"/>
                    </a:lnB>
                    <a:solidFill>
                      <a:srgbClr val="E9E7DF"/>
                    </a:solidFill>
                  </a:tcPr>
                </a:tc>
                <a:tc>
                  <a:txBody>
                    <a:bodyPr/>
                    <a:lstStyle/>
                    <a:p>
                      <a:pPr indent="0" marL="0">
                        <a:lnSpc>
                          <a:spcPts val="1820"/>
                        </a:lnSpc>
                        <a:buNone/>
                      </a:pPr>
                      <a:r>
                        <a:rPr lang="en-US" sz="1300" b="1" dirty="0">
                          <a:solidFill>
                            <a:srgbClr val="0F1F33"/>
                          </a:solidFill>
                          <a:latin typeface="Public Sans" pitchFamily="34" charset="0"/>
                          <a:ea typeface="Public Sans" pitchFamily="34" charset="-122"/>
                          <a:cs typeface="Public Sans" pitchFamily="34" charset="-120"/>
                        </a:rPr>
                        <a:t>Completed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9B2"/>
                      </a:solidFill>
                      <a:prstDash val="solid"/>
                      <a:round/>
                      <a:headEnd type="none" w="med" len="med"/>
                      <a:tailEnd type="none" w="med" len="med"/>
                    </a:lnL>
                    <a:lnR w="12700" cap="flat" cmpd="sng" algn="ctr">
                      <a:solidFill>
                        <a:srgbClr val="BAB9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AB9B2"/>
                      </a:solidFill>
                      <a:prstDash val="solid"/>
                      <a:round/>
                      <a:headEnd type="none" w="med" len="med"/>
                      <a:tailEnd type="none" w="med" len="med"/>
                    </a:lnB>
                    <a:solidFill>
                      <a:srgbClr val="E9E7DF"/>
                    </a:solidFill>
                  </a:tcPr>
                </a:tc>
              </a:tr>
              <a:tr h="359304">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Slow, 178 plays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AB9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36%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AB9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31%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AB9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14%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AB9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20%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AB9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90418">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Medium, 177 plays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57%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15%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9%</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16%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9304">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Fast, 178 plays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83%</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0F1F33"/>
                          </a:solidFill>
                          <a:latin typeface="Public Sans" pitchFamily="34" charset="0"/>
                          <a:ea typeface="Public Sans" pitchFamily="34" charset="-122"/>
                          <a:cs typeface="Public Sans" pitchFamily="34" charset="-120"/>
                        </a:rPr>
                        <a:t>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5" name="Shape 2"/>
          <p:cNvSpPr/>
          <p:nvPr/>
        </p:nvSpPr>
        <p:spPr>
          <a:xfrm>
            <a:off x="6251575" y="1964004"/>
            <a:ext cx="5124450" cy="1482857"/>
          </a:xfrm>
          <a:prstGeom prst="roundRect">
            <a:avLst>
              <a:gd name="adj" fmla="val 6638"/>
            </a:avLst>
          </a:prstGeom>
          <a:solidFill>
            <a:srgbClr val="FFFFFF"/>
          </a:solidFill>
          <a:ln w="6350">
            <a:solidFill>
              <a:srgbClr val="DCDAD2"/>
            </a:solidFill>
            <a:prstDash val="solid"/>
          </a:ln>
        </p:spPr>
      </p:sp>
      <p:sp>
        <p:nvSpPr>
          <p:cNvPr id="6" name="Text 3"/>
          <p:cNvSpPr/>
          <p:nvPr/>
        </p:nvSpPr>
        <p:spPr>
          <a:xfrm>
            <a:off x="6455833" y="2168265"/>
            <a:ext cx="485741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2A78D6"/>
                </a:solidFill>
                <a:latin typeface="Oswald" pitchFamily="34" charset="0"/>
                <a:ea typeface="Oswald" pitchFamily="34" charset="-122"/>
                <a:cs typeface="Oswald" pitchFamily="34" charset="-120"/>
              </a:rPr>
              <a:t>74%</a:t>
            </a:r>
            <a:endParaRPr lang="en-US" sz="3600" dirty="0"/>
          </a:p>
        </p:txBody>
      </p:sp>
      <p:sp>
        <p:nvSpPr>
          <p:cNvPr id="7" name="Text 4"/>
          <p:cNvSpPr/>
          <p:nvPr/>
        </p:nvSpPr>
        <p:spPr>
          <a:xfrm>
            <a:off x="6455833" y="2625465"/>
            <a:ext cx="4857411"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of quarterbacks moved away from the side the threat came from in the second after the fly fired, across 349 plays. Flies move away from a threat too.</a:t>
            </a:r>
            <a:endParaRPr lang="en-US" sz="1200" dirty="0"/>
          </a:p>
        </p:txBody>
      </p:sp>
      <p:sp>
        <p:nvSpPr>
          <p:cNvPr id="8" name="Shape 5"/>
          <p:cNvSpPr/>
          <p:nvPr/>
        </p:nvSpPr>
        <p:spPr>
          <a:xfrm>
            <a:off x="6251575" y="3605609"/>
            <a:ext cx="5124450" cy="1688571"/>
          </a:xfrm>
          <a:prstGeom prst="roundRect">
            <a:avLst>
              <a:gd name="adj" fmla="val 5829"/>
            </a:avLst>
          </a:prstGeom>
          <a:solidFill>
            <a:srgbClr val="FFFFFF"/>
          </a:solidFill>
          <a:ln w="6350">
            <a:solidFill>
              <a:srgbClr val="DCDAD2"/>
            </a:solidFill>
            <a:prstDash val="solid"/>
          </a:ln>
        </p:spPr>
      </p:sp>
      <p:sp>
        <p:nvSpPr>
          <p:cNvPr id="9" name="Text 6"/>
          <p:cNvSpPr/>
          <p:nvPr/>
        </p:nvSpPr>
        <p:spPr>
          <a:xfrm>
            <a:off x="6455833" y="3809870"/>
            <a:ext cx="485741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EB6834"/>
                </a:solidFill>
                <a:latin typeface="Oswald" pitchFamily="34" charset="0"/>
                <a:ea typeface="Oswald" pitchFamily="34" charset="-122"/>
                <a:cs typeface="Oswald" pitchFamily="34" charset="-120"/>
              </a:rPr>
              <a:t>Backwards v forwards</a:t>
            </a:r>
            <a:endParaRPr lang="en-US" sz="3600" dirty="0"/>
          </a:p>
        </p:txBody>
      </p:sp>
      <p:sp>
        <p:nvSpPr>
          <p:cNvPr id="10" name="Text 7"/>
          <p:cNvSpPr/>
          <p:nvPr/>
        </p:nvSpPr>
        <p:spPr>
          <a:xfrm>
            <a:off x="6455833" y="4267070"/>
            <a:ext cx="4857411"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Public Sans" pitchFamily="34" charset="0"/>
                <a:ea typeface="Public Sans" pitchFamily="34" charset="-122"/>
                <a:cs typeface="Public Sans" pitchFamily="34" charset="-120"/>
              </a:rPr>
              <a:t>The fly's wiring votes to jump backwards on every play. Quarterbacks stepped forwards instead, by 0.84 yards on a typical play. The way out of a pocket is in front, which a fly has no reason to know.</a:t>
            </a:r>
            <a:endParaRPr lang="en-US" sz="1200" dirty="0"/>
          </a:p>
        </p:txBody>
      </p:sp>
      <p:sp>
        <p:nvSpPr>
          <p:cNvPr id="11" name="Text 8"/>
          <p:cNvSpPr/>
          <p:nvPr/>
        </p:nvSpPr>
        <p:spPr>
          <a:xfrm>
            <a:off x="812800" y="6238280"/>
            <a:ext cx="99273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Public Sans" pitchFamily="34" charset="0"/>
                <a:ea typeface="Public Sans" pitchFamily="34" charset="-122"/>
                <a:cs typeface="Public Sans" pitchFamily="34" charset="-120"/>
              </a:rPr>
              <a:t>Two of the fly's three known habits carry over to quarterbacks. The third does not, for a reason the wiring makes plain.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F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7F6F1"/>
                </a:solidFill>
                <a:latin typeface="Oswald" pitchFamily="34" charset="0"/>
                <a:ea typeface="Oswald" pitchFamily="34" charset="-122"/>
                <a:cs typeface="Oswald" pitchFamily="34" charset="-120"/>
              </a:rPr>
              <a:t>Three things the league could do with the tracking it already collects</a:t>
            </a:r>
            <a:endParaRPr lang="en-US" sz="3200" dirty="0"/>
          </a:p>
        </p:txBody>
      </p:sp>
      <p:sp>
        <p:nvSpPr>
          <p:cNvPr id="3" name="Shape 1"/>
          <p:cNvSpPr/>
          <p:nvPr/>
        </p:nvSpPr>
        <p:spPr>
          <a:xfrm>
            <a:off x="812800" y="1986229"/>
            <a:ext cx="3352800" cy="2723092"/>
          </a:xfrm>
          <a:prstGeom prst="roundRect">
            <a:avLst>
              <a:gd name="adj" fmla="val 3731"/>
            </a:avLst>
          </a:prstGeom>
          <a:solidFill>
            <a:srgbClr val="182C45"/>
          </a:solidFill>
          <a:ln/>
        </p:spPr>
      </p:sp>
      <p:sp>
        <p:nvSpPr>
          <p:cNvPr id="4" name="Text 2"/>
          <p:cNvSpPr/>
          <p:nvPr/>
        </p:nvSpPr>
        <p:spPr>
          <a:xfrm>
            <a:off x="1092200" y="2265629"/>
            <a:ext cx="2877820" cy="211336"/>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EB6834"/>
                </a:solidFill>
                <a:latin typeface="Public Sans" pitchFamily="34" charset="0"/>
                <a:ea typeface="Public Sans" pitchFamily="34" charset="-122"/>
                <a:cs typeface="Public Sans" pitchFamily="34" charset="-120"/>
              </a:rPr>
              <a:t>HEAD KNOCKS</a:t>
            </a:r>
            <a:endParaRPr lang="en-US" sz="1050" dirty="0"/>
          </a:p>
        </p:txBody>
      </p:sp>
      <p:sp>
        <p:nvSpPr>
          <p:cNvPr id="5" name="Text 3"/>
          <p:cNvSpPr/>
          <p:nvPr/>
        </p:nvSpPr>
        <p:spPr>
          <a:xfrm>
            <a:off x="1092200" y="2578565"/>
            <a:ext cx="2877820" cy="742619"/>
          </a:xfrm>
          <a:prstGeom prst="rect">
            <a:avLst/>
          </a:prstGeom>
          <a:noFill/>
          <a:ln/>
        </p:spPr>
        <p:txBody>
          <a:bodyPr wrap="square" lIns="0" tIns="0" rIns="0" bIns="0" rtlCol="0" anchor="t">
            <a:normAutofit/>
          </a:bodyPr>
          <a:lstStyle/>
          <a:p>
            <a:pPr algn="l" indent="0" marL="0">
              <a:lnSpc>
                <a:spcPts val="2086"/>
              </a:lnSpc>
              <a:buNone/>
            </a:pPr>
            <a:r>
              <a:rPr lang="en-US" sz="1738" b="1" dirty="0">
                <a:solidFill>
                  <a:srgbClr val="F7F6F1"/>
                </a:solidFill>
                <a:latin typeface="Public Sans" pitchFamily="34" charset="0"/>
                <a:ea typeface="Public Sans" pitchFamily="34" charset="-122"/>
                <a:cs typeface="Public Sans" pitchFamily="34" charset="-120"/>
              </a:rPr>
              <a:t>Count backfield pickups as their own kind of collision</a:t>
            </a:r>
            <a:endParaRPr lang="en-US" sz="1738" dirty="0"/>
          </a:p>
        </p:txBody>
      </p:sp>
      <p:sp>
        <p:nvSpPr>
          <p:cNvPr id="6" name="Text 4"/>
          <p:cNvSpPr/>
          <p:nvPr/>
        </p:nvSpPr>
        <p:spPr>
          <a:xfrm>
            <a:off x="1092200" y="3422786"/>
            <a:ext cx="2877820" cy="1032536"/>
          </a:xfrm>
          <a:prstGeom prst="rect">
            <a:avLst/>
          </a:prstGeom>
          <a:noFill/>
          <a:ln/>
        </p:spPr>
        <p:txBody>
          <a:bodyPr wrap="square" lIns="0" tIns="0" rIns="0" bIns="0" rtlCol="0" anchor="t">
            <a:normAutofit/>
          </a:bodyPr>
          <a:lstStyle/>
          <a:p>
            <a:pPr algn="l" indent="0" marL="0">
              <a:lnSpc>
                <a:spcPts val="1598"/>
              </a:lnSpc>
              <a:buNone/>
            </a:pPr>
            <a:r>
              <a:rPr lang="en-US" sz="1142" dirty="0">
                <a:solidFill>
                  <a:srgbClr val="DFE6EE"/>
                </a:solidFill>
                <a:latin typeface="Public Sans" pitchFamily="34" charset="0"/>
                <a:ea typeface="Public Sans" pitchFamily="34" charset="-122"/>
                <a:cs typeface="Public Sans" pitchFamily="34" charset="-120"/>
              </a:rPr>
              <a:t>They are 2 percent of blocks in the pocket and 15 percent of the hardest tenth. A collision load per player per game can be worked out from every snap.</a:t>
            </a:r>
            <a:endParaRPr lang="en-US" sz="1142" dirty="0"/>
          </a:p>
        </p:txBody>
      </p:sp>
      <p:sp>
        <p:nvSpPr>
          <p:cNvPr id="7" name="Shape 5"/>
          <p:cNvSpPr/>
          <p:nvPr/>
        </p:nvSpPr>
        <p:spPr>
          <a:xfrm>
            <a:off x="4419600" y="1986229"/>
            <a:ext cx="3352800" cy="2723092"/>
          </a:xfrm>
          <a:prstGeom prst="roundRect">
            <a:avLst>
              <a:gd name="adj" fmla="val 3731"/>
            </a:avLst>
          </a:prstGeom>
          <a:solidFill>
            <a:srgbClr val="182C45"/>
          </a:solidFill>
          <a:ln/>
        </p:spPr>
      </p:sp>
      <p:sp>
        <p:nvSpPr>
          <p:cNvPr id="8" name="Text 6"/>
          <p:cNvSpPr/>
          <p:nvPr/>
        </p:nvSpPr>
        <p:spPr>
          <a:xfrm>
            <a:off x="4699000" y="2265629"/>
            <a:ext cx="2877820" cy="211336"/>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EB6834"/>
                </a:solidFill>
                <a:latin typeface="Public Sans" pitchFamily="34" charset="0"/>
                <a:ea typeface="Public Sans" pitchFamily="34" charset="-122"/>
                <a:cs typeface="Public Sans" pitchFamily="34" charset="-120"/>
              </a:rPr>
              <a:t>OFFICIATING</a:t>
            </a:r>
            <a:endParaRPr lang="en-US" sz="1050" dirty="0"/>
          </a:p>
        </p:txBody>
      </p:sp>
      <p:sp>
        <p:nvSpPr>
          <p:cNvPr id="9" name="Text 7"/>
          <p:cNvSpPr/>
          <p:nvPr/>
        </p:nvSpPr>
        <p:spPr>
          <a:xfrm>
            <a:off x="4699000" y="2578565"/>
            <a:ext cx="2877820" cy="742619"/>
          </a:xfrm>
          <a:prstGeom prst="rect">
            <a:avLst/>
          </a:prstGeom>
          <a:noFill/>
          <a:ln/>
        </p:spPr>
        <p:txBody>
          <a:bodyPr wrap="square" lIns="0" tIns="0" rIns="0" bIns="0" rtlCol="0" anchor="t">
            <a:normAutofit/>
          </a:bodyPr>
          <a:lstStyle/>
          <a:p>
            <a:pPr algn="l" indent="0" marL="0">
              <a:lnSpc>
                <a:spcPts val="1890"/>
              </a:lnSpc>
              <a:buNone/>
            </a:pPr>
            <a:r>
              <a:rPr lang="en-US" sz="1575" b="1" dirty="0">
                <a:solidFill>
                  <a:srgbClr val="F7F6F1"/>
                </a:solidFill>
                <a:latin typeface="Public Sans" pitchFamily="34" charset="0"/>
                <a:ea typeface="Public Sans" pitchFamily="34" charset="-122"/>
                <a:cs typeface="Public Sans" pitchFamily="34" charset="-120"/>
              </a:rPr>
              <a:t>Write the roughing the passer rule in braking distance</a:t>
            </a:r>
            <a:endParaRPr lang="en-US" sz="1575" dirty="0"/>
          </a:p>
        </p:txBody>
      </p:sp>
      <p:sp>
        <p:nvSpPr>
          <p:cNvPr id="10" name="Text 8"/>
          <p:cNvSpPr/>
          <p:nvPr/>
        </p:nvSpPr>
        <p:spPr>
          <a:xfrm>
            <a:off x="4699000" y="3422786"/>
            <a:ext cx="2877820" cy="1032536"/>
          </a:xfrm>
          <a:prstGeom prst="rect">
            <a:avLst/>
          </a:prstGeom>
          <a:noFill/>
          <a:ln/>
        </p:spPr>
        <p:txBody>
          <a:bodyPr wrap="square" lIns="0" tIns="0" rIns="0" bIns="0" rtlCol="0" anchor="t">
            <a:normAutofit/>
          </a:bodyPr>
          <a:lstStyle/>
          <a:p>
            <a:pPr algn="l" indent="0" marL="0">
              <a:lnSpc>
                <a:spcPts val="1593"/>
              </a:lnSpc>
              <a:buNone/>
            </a:pPr>
            <a:r>
              <a:rPr lang="en-US" sz="1138" dirty="0">
                <a:solidFill>
                  <a:srgbClr val="DFE6EE"/>
                </a:solidFill>
                <a:latin typeface="Public Sans" pitchFamily="34" charset="0"/>
                <a:ea typeface="Public Sans" pitchFamily="34" charset="-122"/>
                <a:cs typeface="Public Sans" pitchFamily="34" charset="-120"/>
              </a:rPr>
              <a:t>A third of flags in this sample went to rushers who could not have stopped. Speed and distance at the throw are already measured, so the rule could be checked on the day.</a:t>
            </a:r>
            <a:endParaRPr lang="en-US" sz="1138" dirty="0"/>
          </a:p>
        </p:txBody>
      </p:sp>
      <p:sp>
        <p:nvSpPr>
          <p:cNvPr id="11" name="Shape 9"/>
          <p:cNvSpPr/>
          <p:nvPr/>
        </p:nvSpPr>
        <p:spPr>
          <a:xfrm>
            <a:off x="8026400" y="1986229"/>
            <a:ext cx="3352800" cy="2723092"/>
          </a:xfrm>
          <a:prstGeom prst="roundRect">
            <a:avLst>
              <a:gd name="adj" fmla="val 3731"/>
            </a:avLst>
          </a:prstGeom>
          <a:solidFill>
            <a:srgbClr val="182C45"/>
          </a:solidFill>
          <a:ln/>
        </p:spPr>
      </p:sp>
      <p:sp>
        <p:nvSpPr>
          <p:cNvPr id="12" name="Text 10"/>
          <p:cNvSpPr/>
          <p:nvPr/>
        </p:nvSpPr>
        <p:spPr>
          <a:xfrm>
            <a:off x="8305800" y="2265629"/>
            <a:ext cx="2877820" cy="237927"/>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EB6834"/>
                </a:solidFill>
                <a:latin typeface="Public Sans" pitchFamily="34" charset="0"/>
                <a:ea typeface="Public Sans" pitchFamily="34" charset="-122"/>
                <a:cs typeface="Public Sans" pitchFamily="34" charset="-120"/>
              </a:rPr>
              <a:t>QUARTERBACK SAFETY</a:t>
            </a:r>
            <a:endParaRPr lang="en-US" sz="1196" dirty="0"/>
          </a:p>
        </p:txBody>
      </p:sp>
      <p:sp>
        <p:nvSpPr>
          <p:cNvPr id="13" name="Text 11"/>
          <p:cNvSpPr/>
          <p:nvPr/>
        </p:nvSpPr>
        <p:spPr>
          <a:xfrm>
            <a:off x="8305800" y="2605156"/>
            <a:ext cx="2877820" cy="57196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1"/>
                </a:solidFill>
                <a:latin typeface="Public Sans" pitchFamily="34" charset="0"/>
                <a:ea typeface="Public Sans" pitchFamily="34" charset="-122"/>
                <a:cs typeface="Public Sans" pitchFamily="34" charset="-120"/>
              </a:rPr>
              <a:t>Use the fly's verdict as the point of no return</a:t>
            </a:r>
            <a:endParaRPr lang="en-US" sz="1800" dirty="0"/>
          </a:p>
        </p:txBody>
      </p:sp>
      <p:sp>
        <p:nvSpPr>
          <p:cNvPr id="14" name="Text 12"/>
          <p:cNvSpPr/>
          <p:nvPr/>
        </p:nvSpPr>
        <p:spPr>
          <a:xfrm>
            <a:off x="8305800" y="3278721"/>
            <a:ext cx="2877820" cy="1176602"/>
          </a:xfrm>
          <a:prstGeom prst="rect">
            <a:avLst/>
          </a:prstGeom>
          <a:noFill/>
          <a:ln/>
        </p:spPr>
        <p:txBody>
          <a:bodyPr wrap="square" lIns="0" tIns="0" rIns="0" bIns="0" rtlCol="0" anchor="t">
            <a:normAutofit/>
          </a:bodyPr>
          <a:lstStyle/>
          <a:p>
            <a:pPr algn="l" indent="0" marL="0">
              <a:lnSpc>
                <a:spcPts val="1814"/>
              </a:lnSpc>
              <a:buNone/>
            </a:pPr>
            <a:r>
              <a:rPr lang="en-US" sz="1296" dirty="0">
                <a:solidFill>
                  <a:srgbClr val="DFE6EE"/>
                </a:solidFill>
                <a:latin typeface="Public Sans" pitchFamily="34" charset="0"/>
                <a:ea typeface="Public Sans" pitchFamily="34" charset="-122"/>
                <a:cs typeface="Public Sans" pitchFamily="34" charset="-120"/>
              </a:rPr>
              <a:t>A line borrowed from nature with nothing tuned on football, and it can run live. The share of dropbacks past it is a protection score for a line and a coaching score for a passer.</a:t>
            </a:r>
            <a:endParaRPr lang="en-US" sz="1296" dirty="0"/>
          </a:p>
        </p:txBody>
      </p:sp>
      <p:sp>
        <p:nvSpPr>
          <p:cNvPr id="15" name="Text 13"/>
          <p:cNvSpPr/>
          <p:nvPr/>
        </p:nvSpPr>
        <p:spPr>
          <a:xfrm>
            <a:off x="812800" y="4988719"/>
            <a:ext cx="1088339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4"/>
                </a:solidFill>
                <a:latin typeface="Public Sans" pitchFamily="34" charset="0"/>
                <a:ea typeface="Public Sans" pitchFamily="34" charset="-122"/>
                <a:cs typeface="Public Sans" pitchFamily="34" charset="-120"/>
              </a:rPr>
              <a:t>Things to know. Closeness stands in for contact and nothing here links a collision to an injury. The fly circuit runs on its own, cut out from the rest of the brain, each cell's patch of view is assigned rather than measured, and a rusher is drawn as a shape 0.6 yards wide. Turn the detectors up to twice as loud and the fly fires before the throw on most plays, with the sack rate on those falling to one in ten, which is why the dial was set on the fly's own stimulus and never on results. All code, figures and the wiring are in the results bundle and on the dashboard.</a:t>
            </a:r>
            <a:endParaRPr lang="en-US" sz="1200" dirty="0"/>
          </a:p>
        </p:txBody>
      </p:sp>
    </p:spTree>
  </p:cSld>
  <p:clrMapOvr>
    <a:masterClrMapping/>
  </p:clrMapOvr>
</p:sld>
</file>

<file path=ppt/theme/theme1.xml><?xml version="1.0" encoding="utf-8"?>
<a:theme xmlns:a="http://schemas.openxmlformats.org/drawingml/2006/main" name="Fruit fly in the pocket">
  <a:themeElements>
    <a:clrScheme name="Fruit fly in the pocket">
      <a:dk1>
        <a:srgbClr val="4A5568"/>
      </a:dk1>
      <a:lt1>
        <a:srgbClr val="F7F6F1"/>
      </a:lt1>
      <a:dk2>
        <a:srgbClr val="757D8A"/>
      </a:dk2>
      <a:lt2>
        <a:srgbClr val="E6E6E3"/>
      </a:lt2>
      <a:accent1>
        <a:srgbClr val="EB6834"/>
      </a:accent1>
      <a:accent2>
        <a:srgbClr val="182C45"/>
      </a:accent2>
      <a:accent3>
        <a:srgbClr val="2A78D6"/>
      </a:accent3>
      <a:accent4>
        <a:srgbClr val="E34948"/>
      </a:accent4>
      <a:accent5>
        <a:srgbClr val="0F1F33"/>
      </a:accent5>
      <a:accent6>
        <a:srgbClr val="6A7179"/>
      </a:accent6>
      <a:hlink>
        <a:srgbClr val="0563C1"/>
      </a:hlink>
      <a:folHlink>
        <a:srgbClr val="954F72"/>
      </a:folHlink>
    </a:clrScheme>
    <a:fontScheme name="Fruit fly in the pocket">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Fruit fly in the pocket</dc:title>
  <dc:subject/>
  <dc:creator/>
  <cp:lastModifiedBy/>
  <cp:revision>1</cp:revision>
  <dcterms:created xsi:type="dcterms:W3CDTF">2026-10-09T10:57:43Z</dcterms:created>
  <dcterms:modified xsi:type="dcterms:W3CDTF">2026-10-09T10:57:43Z</dcterms:modified>
</cp:coreProperties>
</file>